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2" r:id="rId3"/>
    <p:sldId id="270" r:id="rId4"/>
    <p:sldId id="284" r:id="rId5"/>
    <p:sldId id="294" r:id="rId6"/>
    <p:sldId id="285" r:id="rId7"/>
    <p:sldId id="286" r:id="rId8"/>
    <p:sldId id="282" r:id="rId9"/>
    <p:sldId id="288" r:id="rId10"/>
    <p:sldId id="287" r:id="rId11"/>
    <p:sldId id="29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969"/>
    <a:srgbClr val="95F59E"/>
    <a:srgbClr val="FFF5F5"/>
    <a:srgbClr val="F2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AE4F8-AFD8-49D7-9BC7-3E19D0E8B507}" v="160" dt="2026-04-23T19:03:04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IN"/>
              <a:t>Segmentation mIoU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STL</c:v>
                </c:pt>
              </c:strCache>
            </c:strRef>
          </c:tx>
          <c:spPr>
            <a:solidFill>
              <a:srgbClr val="2D9CDB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Best (E2)</c:v>
                </c:pt>
                <c:pt idx="1">
                  <c:v>Final (E5)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0.28139999999999998</c:v>
                </c:pt>
                <c:pt idx="1">
                  <c:v>0.30990000000000001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A0-462E-A2F9-8A6E44BE1C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MTL</c:v>
                </c:pt>
              </c:strCache>
            </c:strRef>
          </c:tx>
          <c:spPr>
            <a:solidFill>
              <a:srgbClr val="9B59B6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Best (E2)</c:v>
                </c:pt>
                <c:pt idx="1">
                  <c:v>Final (E5)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0.29449999999999998</c:v>
                </c:pt>
                <c:pt idx="1">
                  <c:v>0.30740000000000001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A0-462E-A2F9-8A6E44BE1C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  <c:min val="0.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chemeClr val="lt1"/>
    </a:solidFill>
    <a:ln w="19050" cap="flat" cmpd="sng" algn="ctr">
      <a:solidFill>
        <a:schemeClr val="dk1"/>
      </a:solidFill>
      <a:prstDash val="solid"/>
      <a:miter lim="800000"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IN"/>
              <a:t>Drivable Area mIoU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STL</c:v>
                </c:pt>
              </c:strCache>
            </c:strRef>
          </c:tx>
          <c:spPr>
            <a:solidFill>
              <a:srgbClr val="27AE60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Best (E2)</c:v>
                </c:pt>
                <c:pt idx="1">
                  <c:v>Final (E5)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0.69359999999999999</c:v>
                </c:pt>
                <c:pt idx="1">
                  <c:v>0.71889999999999998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0A-4CAD-9FC1-3C4D7E334A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MTL</c:v>
                </c:pt>
              </c:strCache>
            </c:strRef>
          </c:tx>
          <c:spPr>
            <a:solidFill>
              <a:srgbClr val="9B59B6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Best (E2)</c:v>
                </c:pt>
                <c:pt idx="1">
                  <c:v>Final (E5)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0.65080000000000005</c:v>
                </c:pt>
                <c:pt idx="1">
                  <c:v>0.67400000000000004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0A-4CAD-9FC1-3C4D7E334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chemeClr val="lt1"/>
    </a:solidFill>
    <a:ln w="19050" cap="flat" cmpd="sng" algn="ctr">
      <a:solidFill>
        <a:schemeClr val="dk1"/>
      </a:solidFill>
      <a:prstDash val="solid"/>
      <a:miter lim="800000"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D7E04-A8BC-426D-ACDF-BCDA004C8DF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602D3-A6B6-4267-90AA-3C5A71B0D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66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880bcb85c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880bcb85c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8a0eaa150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8a0eaa150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28a0eaa150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28a0eaa150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28a0eaa150d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28a0eaa150d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>
          <a:extLst>
            <a:ext uri="{FF2B5EF4-FFF2-40B4-BE49-F238E27FC236}">
              <a16:creationId xmlns:a16="http://schemas.microsoft.com/office/drawing/2014/main" id="{020BAC05-A6F1-0B8B-3724-A623D56E8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8a0eaa150d_0_61:notes">
            <a:extLst>
              <a:ext uri="{FF2B5EF4-FFF2-40B4-BE49-F238E27FC236}">
                <a16:creationId xmlns:a16="http://schemas.microsoft.com/office/drawing/2014/main" id="{C101A3B2-B65B-F91F-4262-EAE6B5EB9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8a0eaa150d_0_61:notes">
            <a:extLst>
              <a:ext uri="{FF2B5EF4-FFF2-40B4-BE49-F238E27FC236}">
                <a16:creationId xmlns:a16="http://schemas.microsoft.com/office/drawing/2014/main" id="{44DE1153-168E-C3A5-BCA5-7A6FDD358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724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28a0eaa150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28a0eaa150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28a0eaa150d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28a0eaa150d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8a0eaa150d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8a0eaa150d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8a0eaa150d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8a0eaa150d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8a0eaa150d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8a0eaa150d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28a0eaa150d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28a0eaa150d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2578-4CFC-7070-CB02-6E9CCEB19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C3790-3F39-16F9-A4DE-2E4B366E5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B7E88-5279-9FF9-90C0-2D22DC475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E47FF-2D67-93D4-7D36-6005CB26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E312B-1267-6D37-A42E-407215A7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6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5BDC-3E94-3418-A105-2CEC85C4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532DE-8354-C39F-52C9-51600A579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1F126-86EB-6CCB-1DFD-B37CDD9F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E8451-814D-4850-73A8-1A796387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45C5D-EF3F-876C-4EE1-26AC0E58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2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E7B7-82ED-5BA2-D4AC-148382DA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085DA-C554-F6ED-C74C-7E3EF0A7E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DCD33-D306-765E-2578-54D10FF7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A0EE1-5CE0-4C55-5CA9-0A83A090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372E3-4B3D-7F41-BEF8-1F777E0C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BD06-E833-6D38-2A50-10EA4A9E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AB806-989E-2869-230D-7DF4A7952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4DBFE-82C8-AC77-27A2-BF1595E61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5C843-378C-4A93-9D27-AAB16EC9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86FD4-6881-8EE5-CED7-42FC8C72C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BC050-39E7-F960-A5C1-5F21DD0B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1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9A34-3298-6D68-EDD0-BCD89B03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4FCD0-9EE3-874B-34DB-A5CFE1F1E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8855B-55C5-03B5-F1C1-F0F116F13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D2561-B504-6259-0BD1-8E478B74B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48B29-02EC-D1C0-E34A-029D23243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77A3D-6906-5717-4F57-ACACAEE2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26E38-3DB1-8DF4-1624-1FCF4AE4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9E3F8-ABDC-1746-4E71-111B45C0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96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566B-9E7E-7DD3-62DB-1DD80ED6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5526E-AD53-A230-F743-FB6449A1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243DB-469E-EB03-3A7C-1F09A5EA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D66E1-16E7-642A-76FA-57CBB274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98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17788-E7A7-E7A8-E395-EF68ACF3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41E58-819C-363B-04FB-A2B6FE26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D12EF-03EA-932B-A3DD-456A0003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92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FEFE-8B1A-C01B-CA79-9A10E30A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C384-8DD9-A63E-B59B-F923E035A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7AD24-3E0B-1988-C9E8-33E77232E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F9F6C-6CC9-703A-7747-0549A481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D641D-BC84-10FE-814D-F1CF3577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30F23-20FC-3286-D0CE-EC816A13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05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3382-A89E-D294-1212-00E96AB7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577C8-C992-79F3-4076-FC4801D93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D0988-F2D6-CE26-B200-5063A6CAF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2EACC-C101-6BB5-BDD6-9A056E0F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3590C-509D-9425-CA3E-75A87741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5B446-2FE6-25AB-C3E5-B019C499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54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F24B-6894-67F3-C53F-C045E682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6ED0A-B0D8-25C2-24F5-03070AA23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D9ED7-A4F7-97E7-B81D-4FF1A87B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8FF94-10E3-B57E-FCB2-BE0A16BA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96B0-910F-1E36-D327-A60E878A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05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B219D-6365-2763-BE95-E1C569EEE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C6D36-9438-2A41-44B0-81CA22216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93F1-0788-294D-5AEB-A0057D0B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3D6F0-98AC-428A-1015-7E80583D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1EAF-B004-E5E7-2824-28F1563A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716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>
            <a:spLocks noGrp="1"/>
          </p:cNvSpPr>
          <p:nvPr>
            <p:ph type="body" idx="1"/>
          </p:nvPr>
        </p:nvSpPr>
        <p:spPr>
          <a:xfrm>
            <a:off x="1162800" y="2395767"/>
            <a:ext cx="5231600" cy="2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7"/>
          <p:cNvSpPr txBox="1">
            <a:spLocks noGrp="1"/>
          </p:cNvSpPr>
          <p:nvPr>
            <p:ph type="title"/>
          </p:nvPr>
        </p:nvSpPr>
        <p:spPr>
          <a:xfrm>
            <a:off x="1162800" y="719333"/>
            <a:ext cx="9866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7" name="Google Shape;207;p7"/>
          <p:cNvGrpSpPr/>
          <p:nvPr/>
        </p:nvGrpSpPr>
        <p:grpSpPr>
          <a:xfrm flipH="1">
            <a:off x="3103011" y="6132567"/>
            <a:ext cx="5985967" cy="258367"/>
            <a:chOff x="1784500" y="1867350"/>
            <a:chExt cx="4489475" cy="193775"/>
          </a:xfrm>
        </p:grpSpPr>
        <p:sp>
          <p:nvSpPr>
            <p:cNvPr id="208" name="Google Shape;208;p7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1" name="Google Shape;211;p7"/>
          <p:cNvGrpSpPr/>
          <p:nvPr/>
        </p:nvGrpSpPr>
        <p:grpSpPr>
          <a:xfrm>
            <a:off x="327101" y="719334"/>
            <a:ext cx="266500" cy="961533"/>
            <a:chOff x="188762" y="539500"/>
            <a:chExt cx="199875" cy="721150"/>
          </a:xfrm>
        </p:grpSpPr>
        <p:sp>
          <p:nvSpPr>
            <p:cNvPr id="212" name="Google Shape;212;p7"/>
            <p:cNvSpPr/>
            <p:nvPr/>
          </p:nvSpPr>
          <p:spPr>
            <a:xfrm flipH="1">
              <a:off x="332387" y="12044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7"/>
            <p:cNvSpPr/>
            <p:nvPr/>
          </p:nvSpPr>
          <p:spPr>
            <a:xfrm flipH="1">
              <a:off x="332387" y="1037975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7"/>
            <p:cNvSpPr/>
            <p:nvPr/>
          </p:nvSpPr>
          <p:spPr>
            <a:xfrm flipH="1">
              <a:off x="332387" y="872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7"/>
            <p:cNvSpPr/>
            <p:nvPr/>
          </p:nvSpPr>
          <p:spPr>
            <a:xfrm flipH="1">
              <a:off x="332387" y="7059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7"/>
            <p:cNvSpPr/>
            <p:nvPr/>
          </p:nvSpPr>
          <p:spPr>
            <a:xfrm flipH="1">
              <a:off x="332387" y="5395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7"/>
            <p:cNvSpPr/>
            <p:nvPr/>
          </p:nvSpPr>
          <p:spPr>
            <a:xfrm flipH="1">
              <a:off x="188762" y="12044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7"/>
            <p:cNvSpPr/>
            <p:nvPr/>
          </p:nvSpPr>
          <p:spPr>
            <a:xfrm flipH="1">
              <a:off x="188762" y="1037975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7"/>
            <p:cNvSpPr/>
            <p:nvPr/>
          </p:nvSpPr>
          <p:spPr>
            <a:xfrm flipH="1">
              <a:off x="188762" y="872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7"/>
            <p:cNvSpPr/>
            <p:nvPr/>
          </p:nvSpPr>
          <p:spPr>
            <a:xfrm flipH="1">
              <a:off x="188762" y="7059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7"/>
            <p:cNvSpPr/>
            <p:nvPr/>
          </p:nvSpPr>
          <p:spPr>
            <a:xfrm flipH="1">
              <a:off x="188762" y="5395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686530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>
            <a:spLocks noGrp="1"/>
          </p:cNvSpPr>
          <p:nvPr>
            <p:ph type="pic" idx="2"/>
          </p:nvPr>
        </p:nvSpPr>
        <p:spPr>
          <a:xfrm>
            <a:off x="-380433" y="-214000"/>
            <a:ext cx="12952800" cy="7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6" name="Google Shape;276;p10"/>
          <p:cNvSpPr txBox="1">
            <a:spLocks noGrp="1"/>
          </p:cNvSpPr>
          <p:nvPr>
            <p:ph type="title"/>
          </p:nvPr>
        </p:nvSpPr>
        <p:spPr>
          <a:xfrm>
            <a:off x="1162800" y="719333"/>
            <a:ext cx="9866400" cy="865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9928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2"/>
          <p:cNvSpPr txBox="1">
            <a:spLocks noGrp="1"/>
          </p:cNvSpPr>
          <p:nvPr>
            <p:ph type="title"/>
          </p:nvPr>
        </p:nvSpPr>
        <p:spPr>
          <a:xfrm>
            <a:off x="1162800" y="719333"/>
            <a:ext cx="9866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49" name="Google Shape;949;p32"/>
          <p:cNvGrpSpPr/>
          <p:nvPr/>
        </p:nvGrpSpPr>
        <p:grpSpPr>
          <a:xfrm>
            <a:off x="11241000" y="1634580"/>
            <a:ext cx="3588901" cy="3588841"/>
            <a:chOff x="5165750" y="-1146341"/>
            <a:chExt cx="2691676" cy="2691631"/>
          </a:xfrm>
        </p:grpSpPr>
        <p:sp>
          <p:nvSpPr>
            <p:cNvPr id="950" name="Google Shape;950;p32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32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32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32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32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32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59" name="Google Shape;959;p32"/>
          <p:cNvGrpSpPr/>
          <p:nvPr/>
        </p:nvGrpSpPr>
        <p:grpSpPr>
          <a:xfrm>
            <a:off x="4321767" y="6438476"/>
            <a:ext cx="3720500" cy="86633"/>
            <a:chOff x="5954300" y="4334988"/>
            <a:chExt cx="2790375" cy="64975"/>
          </a:xfrm>
        </p:grpSpPr>
        <p:sp>
          <p:nvSpPr>
            <p:cNvPr id="960" name="Google Shape;960;p32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32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32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32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80" name="Google Shape;980;p32"/>
          <p:cNvGrpSpPr/>
          <p:nvPr/>
        </p:nvGrpSpPr>
        <p:grpSpPr>
          <a:xfrm>
            <a:off x="-861621" y="-13"/>
            <a:ext cx="1812613" cy="1812613"/>
            <a:chOff x="3901550" y="2223725"/>
            <a:chExt cx="1557050" cy="1557050"/>
          </a:xfrm>
        </p:grpSpPr>
        <p:sp>
          <p:nvSpPr>
            <p:cNvPr id="981" name="Google Shape;981;p32"/>
            <p:cNvSpPr/>
            <p:nvPr/>
          </p:nvSpPr>
          <p:spPr>
            <a:xfrm>
              <a:off x="4212350" y="2535275"/>
              <a:ext cx="934700" cy="933925"/>
            </a:xfrm>
            <a:custGeom>
              <a:avLst/>
              <a:gdLst/>
              <a:ahLst/>
              <a:cxnLst/>
              <a:rect l="l" t="t" r="r" b="b"/>
              <a:pathLst>
                <a:path w="37388" h="37357" extrusionOk="0">
                  <a:moveTo>
                    <a:pt x="18694" y="1"/>
                  </a:moveTo>
                  <a:cubicBezTo>
                    <a:pt x="8390" y="1"/>
                    <a:pt x="1" y="8360"/>
                    <a:pt x="1" y="18664"/>
                  </a:cubicBezTo>
                  <a:cubicBezTo>
                    <a:pt x="1" y="28998"/>
                    <a:pt x="8390" y="37357"/>
                    <a:pt x="18694" y="37357"/>
                  </a:cubicBezTo>
                  <a:cubicBezTo>
                    <a:pt x="29028" y="37357"/>
                    <a:pt x="37387" y="28998"/>
                    <a:pt x="37387" y="18664"/>
                  </a:cubicBezTo>
                  <a:cubicBezTo>
                    <a:pt x="37387" y="8360"/>
                    <a:pt x="29028" y="1"/>
                    <a:pt x="186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4385600" y="2707775"/>
              <a:ext cx="588950" cy="588950"/>
            </a:xfrm>
            <a:custGeom>
              <a:avLst/>
              <a:gdLst/>
              <a:ahLst/>
              <a:cxnLst/>
              <a:rect l="l" t="t" r="r" b="b"/>
              <a:pathLst>
                <a:path w="23558" h="23558" fill="none" extrusionOk="0">
                  <a:moveTo>
                    <a:pt x="23557" y="11764"/>
                  </a:moveTo>
                  <a:cubicBezTo>
                    <a:pt x="23557" y="18268"/>
                    <a:pt x="18269" y="23557"/>
                    <a:pt x="11764" y="23557"/>
                  </a:cubicBezTo>
                  <a:cubicBezTo>
                    <a:pt x="5259" y="23557"/>
                    <a:pt x="1" y="18268"/>
                    <a:pt x="1" y="11764"/>
                  </a:cubicBezTo>
                  <a:cubicBezTo>
                    <a:pt x="1" y="5259"/>
                    <a:pt x="5259" y="1"/>
                    <a:pt x="11764" y="1"/>
                  </a:cubicBezTo>
                  <a:cubicBezTo>
                    <a:pt x="18269" y="1"/>
                    <a:pt x="23557" y="5259"/>
                    <a:pt x="23557" y="11764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4596100" y="2919025"/>
              <a:ext cx="167200" cy="166450"/>
            </a:xfrm>
            <a:custGeom>
              <a:avLst/>
              <a:gdLst/>
              <a:ahLst/>
              <a:cxnLst/>
              <a:rect l="l" t="t" r="r" b="b"/>
              <a:pathLst>
                <a:path w="6688" h="6658" extrusionOk="0">
                  <a:moveTo>
                    <a:pt x="3344" y="1"/>
                  </a:moveTo>
                  <a:cubicBezTo>
                    <a:pt x="1520" y="1"/>
                    <a:pt x="0" y="1490"/>
                    <a:pt x="0" y="3314"/>
                  </a:cubicBezTo>
                  <a:cubicBezTo>
                    <a:pt x="0" y="5168"/>
                    <a:pt x="1520" y="6657"/>
                    <a:pt x="3344" y="6657"/>
                  </a:cubicBezTo>
                  <a:cubicBezTo>
                    <a:pt x="5198" y="6657"/>
                    <a:pt x="6687" y="5168"/>
                    <a:pt x="6687" y="3314"/>
                  </a:cubicBezTo>
                  <a:cubicBezTo>
                    <a:pt x="6687" y="1490"/>
                    <a:pt x="5198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4496550" y="2819475"/>
              <a:ext cx="366300" cy="365525"/>
            </a:xfrm>
            <a:custGeom>
              <a:avLst/>
              <a:gdLst/>
              <a:ahLst/>
              <a:cxnLst/>
              <a:rect l="l" t="t" r="r" b="b"/>
              <a:pathLst>
                <a:path w="14652" h="14621" fill="none" extrusionOk="0">
                  <a:moveTo>
                    <a:pt x="14651" y="7296"/>
                  </a:moveTo>
                  <a:cubicBezTo>
                    <a:pt x="14651" y="11338"/>
                    <a:pt x="11369" y="14621"/>
                    <a:pt x="7326" y="14621"/>
                  </a:cubicBezTo>
                  <a:cubicBezTo>
                    <a:pt x="3283" y="14621"/>
                    <a:pt x="1" y="11338"/>
                    <a:pt x="1" y="7296"/>
                  </a:cubicBezTo>
                  <a:cubicBezTo>
                    <a:pt x="1" y="3283"/>
                    <a:pt x="3283" y="1"/>
                    <a:pt x="7326" y="1"/>
                  </a:cubicBezTo>
                  <a:cubicBezTo>
                    <a:pt x="11369" y="1"/>
                    <a:pt x="14651" y="3283"/>
                    <a:pt x="14651" y="7296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3901550" y="2223725"/>
              <a:ext cx="1557050" cy="1557050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88997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35"/>
          <p:cNvSpPr txBox="1">
            <a:spLocks noGrp="1"/>
          </p:cNvSpPr>
          <p:nvPr>
            <p:ph type="title"/>
          </p:nvPr>
        </p:nvSpPr>
        <p:spPr>
          <a:xfrm>
            <a:off x="1162800" y="719333"/>
            <a:ext cx="9866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52" name="Google Shape;1052;p35"/>
          <p:cNvGrpSpPr/>
          <p:nvPr/>
        </p:nvGrpSpPr>
        <p:grpSpPr>
          <a:xfrm flipH="1">
            <a:off x="10559357" y="-946071"/>
            <a:ext cx="2527777" cy="2527821"/>
            <a:chOff x="3835450" y="-252000"/>
            <a:chExt cx="1445325" cy="1445350"/>
          </a:xfrm>
        </p:grpSpPr>
        <p:sp>
          <p:nvSpPr>
            <p:cNvPr id="1053" name="Google Shape;1053;p35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35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35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35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7" name="Google Shape;1057;p35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8" name="Google Shape;1058;p35"/>
          <p:cNvGrpSpPr/>
          <p:nvPr/>
        </p:nvGrpSpPr>
        <p:grpSpPr>
          <a:xfrm>
            <a:off x="-1362319" y="0"/>
            <a:ext cx="2313272" cy="2313272"/>
            <a:chOff x="6340050" y="754850"/>
            <a:chExt cx="1595800" cy="1595800"/>
          </a:xfrm>
        </p:grpSpPr>
        <p:sp>
          <p:nvSpPr>
            <p:cNvPr id="1059" name="Google Shape;1059;p35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64410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1"/>
          <p:cNvSpPr txBox="1">
            <a:spLocks noGrp="1"/>
          </p:cNvSpPr>
          <p:nvPr>
            <p:ph type="body" idx="1"/>
          </p:nvPr>
        </p:nvSpPr>
        <p:spPr>
          <a:xfrm>
            <a:off x="1112467" y="2422367"/>
            <a:ext cx="4925200" cy="30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1" name="Google Shape;591;p21"/>
          <p:cNvSpPr txBox="1">
            <a:spLocks noGrp="1"/>
          </p:cNvSpPr>
          <p:nvPr>
            <p:ph type="body" idx="2"/>
          </p:nvPr>
        </p:nvSpPr>
        <p:spPr>
          <a:xfrm>
            <a:off x="6154367" y="2422367"/>
            <a:ext cx="4925200" cy="30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2" name="Google Shape;592;p21"/>
          <p:cNvSpPr txBox="1">
            <a:spLocks noGrp="1"/>
          </p:cNvSpPr>
          <p:nvPr>
            <p:ph type="title"/>
          </p:nvPr>
        </p:nvSpPr>
        <p:spPr>
          <a:xfrm>
            <a:off x="1162800" y="719333"/>
            <a:ext cx="9866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3" name="Google Shape;593;p21"/>
          <p:cNvGrpSpPr/>
          <p:nvPr/>
        </p:nvGrpSpPr>
        <p:grpSpPr>
          <a:xfrm rot="10800000" flipH="1">
            <a:off x="9841507" y="-670253"/>
            <a:ext cx="4509733" cy="2658600"/>
            <a:chOff x="1317925" y="2802775"/>
            <a:chExt cx="3382300" cy="1993950"/>
          </a:xfrm>
        </p:grpSpPr>
        <p:sp>
          <p:nvSpPr>
            <p:cNvPr id="594" name="Google Shape;594;p21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21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06" name="Google Shape;606;p21"/>
          <p:cNvGrpSpPr/>
          <p:nvPr/>
        </p:nvGrpSpPr>
        <p:grpSpPr>
          <a:xfrm>
            <a:off x="-1362301" y="0"/>
            <a:ext cx="2313272" cy="2313272"/>
            <a:chOff x="6340050" y="754850"/>
            <a:chExt cx="1595800" cy="1595800"/>
          </a:xfrm>
        </p:grpSpPr>
        <p:sp>
          <p:nvSpPr>
            <p:cNvPr id="607" name="Google Shape;607;p21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21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62924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0A52DE-E260-7286-39B1-792C4EE0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FEF10-8299-E18D-BD1E-BA9A02593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4F37C-6BCB-1596-332D-22AE174D9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FF9BA-5BED-4B87-B9FD-FABD274B0C2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5DF99-2310-63A8-DCA3-AA6A52092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F2C7B-C393-E9FF-11E3-2A805BFF4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9D5427-6671-4BED-854B-805449768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60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6"/>
          <p:cNvSpPr txBox="1">
            <a:spLocks noGrp="1"/>
          </p:cNvSpPr>
          <p:nvPr>
            <p:ph type="ctrTitle"/>
          </p:nvPr>
        </p:nvSpPr>
        <p:spPr>
          <a:xfrm>
            <a:off x="2646598" y="2310416"/>
            <a:ext cx="6898800" cy="22371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3600" dirty="0"/>
              <a:t>Controlled Empirical Analysis of Single-Task and Multi Task Learning for Semantic Segmentation and Drivable Area Detection</a:t>
            </a:r>
            <a:endParaRPr sz="3600" dirty="0">
              <a:solidFill>
                <a:schemeClr val="lt1"/>
              </a:solidFill>
            </a:endParaRPr>
          </a:p>
        </p:txBody>
      </p:sp>
      <p:sp>
        <p:nvSpPr>
          <p:cNvPr id="1265" name="Google Shape;1265;p46"/>
          <p:cNvSpPr txBox="1">
            <a:spLocks noGrp="1"/>
          </p:cNvSpPr>
          <p:nvPr>
            <p:ph type="subTitle" idx="1"/>
          </p:nvPr>
        </p:nvSpPr>
        <p:spPr>
          <a:xfrm>
            <a:off x="4619790" y="4687665"/>
            <a:ext cx="2952415" cy="11753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000" dirty="0"/>
              <a:t>Nishit Vinod Kumble</a:t>
            </a:r>
          </a:p>
          <a:p>
            <a:pPr>
              <a:spcBef>
                <a:spcPts val="0"/>
              </a:spcBef>
            </a:pPr>
            <a:r>
              <a:rPr lang="en" sz="1400" dirty="0"/>
              <a:t>Msc. Artificial Intelligence</a:t>
            </a:r>
          </a:p>
          <a:p>
            <a:pPr>
              <a:spcBef>
                <a:spcPts val="0"/>
              </a:spcBef>
            </a:pPr>
            <a:r>
              <a:rPr lang="en" sz="1400" dirty="0"/>
              <a:t>000804027</a:t>
            </a:r>
          </a:p>
          <a:p>
            <a:pPr>
              <a:spcBef>
                <a:spcPts val="0"/>
              </a:spcBef>
            </a:pPr>
            <a:r>
              <a:rPr lang="en" sz="1400" dirty="0"/>
              <a:t>Lawrence Technological University</a:t>
            </a:r>
          </a:p>
          <a:p>
            <a:pPr algn="l">
              <a:spcBef>
                <a:spcPts val="0"/>
              </a:spcBef>
            </a:pPr>
            <a:endParaRPr lang="en" dirty="0"/>
          </a:p>
          <a:p>
            <a:pPr>
              <a:spcBef>
                <a:spcPts val="0"/>
              </a:spcBef>
            </a:pPr>
            <a:endParaRPr dirty="0"/>
          </a:p>
        </p:txBody>
      </p:sp>
      <p:grpSp>
        <p:nvGrpSpPr>
          <p:cNvPr id="1266" name="Google Shape;1266;p46"/>
          <p:cNvGrpSpPr/>
          <p:nvPr/>
        </p:nvGrpSpPr>
        <p:grpSpPr>
          <a:xfrm>
            <a:off x="-534983" y="-673771"/>
            <a:ext cx="2527777" cy="2527821"/>
            <a:chOff x="3835450" y="-252000"/>
            <a:chExt cx="1445325" cy="1445350"/>
          </a:xfrm>
        </p:grpSpPr>
        <p:sp>
          <p:nvSpPr>
            <p:cNvPr id="1267" name="Google Shape;1267;p46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72" name="Google Shape;1272;p46"/>
          <p:cNvGrpSpPr/>
          <p:nvPr/>
        </p:nvGrpSpPr>
        <p:grpSpPr>
          <a:xfrm>
            <a:off x="10169277" y="-1289169"/>
            <a:ext cx="3294900" cy="3663967"/>
            <a:chOff x="7398357" y="-662077"/>
            <a:chExt cx="2471175" cy="2747975"/>
          </a:xfrm>
        </p:grpSpPr>
        <p:sp>
          <p:nvSpPr>
            <p:cNvPr id="1273" name="Google Shape;1273;p46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1274;p46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1275;p46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1276;p46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7" name="Google Shape;1277;p46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78" name="Google Shape;1278;p46"/>
          <p:cNvGrpSpPr/>
          <p:nvPr/>
        </p:nvGrpSpPr>
        <p:grpSpPr>
          <a:xfrm>
            <a:off x="-1955315" y="3648373"/>
            <a:ext cx="3721715" cy="3466201"/>
            <a:chOff x="-1466486" y="2736279"/>
            <a:chExt cx="2791286" cy="2599651"/>
          </a:xfrm>
        </p:grpSpPr>
        <p:sp>
          <p:nvSpPr>
            <p:cNvPr id="1279" name="Google Shape;1279;p46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280" name="Google Shape;1280;p46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281" name="Google Shape;1281;p46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82" name="Google Shape;1282;p46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2" name="Google Shape;1265;p46">
            <a:extLst>
              <a:ext uri="{FF2B5EF4-FFF2-40B4-BE49-F238E27FC236}">
                <a16:creationId xmlns:a16="http://schemas.microsoft.com/office/drawing/2014/main" id="{8C4C5A9F-A8FC-54D1-B73B-3CB515DBA0CB}"/>
              </a:ext>
            </a:extLst>
          </p:cNvPr>
          <p:cNvSpPr txBox="1">
            <a:spLocks/>
          </p:cNvSpPr>
          <p:nvPr/>
        </p:nvSpPr>
        <p:spPr>
          <a:xfrm>
            <a:off x="3397735" y="1755007"/>
            <a:ext cx="5396524" cy="61979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IN" u="sng" dirty="0"/>
              <a:t>Advanced Deep Learning Major Project</a:t>
            </a:r>
            <a:endParaRPr lang="en-IN" sz="1400" u="sng" dirty="0"/>
          </a:p>
          <a:p>
            <a:pPr algn="l">
              <a:spcBef>
                <a:spcPts val="0"/>
              </a:spcBef>
            </a:pPr>
            <a:endParaRPr lang="en-IN" dirty="0"/>
          </a:p>
          <a:p>
            <a:pPr>
              <a:spcBef>
                <a:spcPts val="0"/>
              </a:spcBef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52"/>
          <p:cNvSpPr txBox="1">
            <a:spLocks noGrp="1"/>
          </p:cNvSpPr>
          <p:nvPr>
            <p:ph type="body" idx="1"/>
          </p:nvPr>
        </p:nvSpPr>
        <p:spPr>
          <a:xfrm>
            <a:off x="2996748" y="2119825"/>
            <a:ext cx="6198504" cy="1215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" dirty="0"/>
              <a:t>Autonomous driving require multiple perception task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" sz="1800" dirty="0"/>
              <a:t>Tasks chosen:</a:t>
            </a: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" sz="1400" dirty="0"/>
              <a:t>Semantic Segmentation: Classify every pixel.</a:t>
            </a: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" sz="1400" dirty="0"/>
              <a:t>Drivable Area Detection: Identify safe driving regions.</a:t>
            </a:r>
          </a:p>
        </p:txBody>
      </p:sp>
      <p:grpSp>
        <p:nvGrpSpPr>
          <p:cNvPr id="1360" name="Google Shape;1360;p52"/>
          <p:cNvGrpSpPr/>
          <p:nvPr/>
        </p:nvGrpSpPr>
        <p:grpSpPr>
          <a:xfrm flipH="1">
            <a:off x="10554342" y="2295064"/>
            <a:ext cx="3721715" cy="3466201"/>
            <a:chOff x="-1466486" y="2736279"/>
            <a:chExt cx="2791286" cy="2599651"/>
          </a:xfrm>
        </p:grpSpPr>
        <p:sp>
          <p:nvSpPr>
            <p:cNvPr id="1361" name="Google Shape;1361;p52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362" name="Google Shape;1362;p52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363" name="Google Shape;1363;p52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4" name="Google Shape;1364;p52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2" name="Google Shape;1487;p60">
            <a:extLst>
              <a:ext uri="{FF2B5EF4-FFF2-40B4-BE49-F238E27FC236}">
                <a16:creationId xmlns:a16="http://schemas.microsoft.com/office/drawing/2014/main" id="{4DA66CFA-3D7C-4753-4CA4-709996064893}"/>
              </a:ext>
            </a:extLst>
          </p:cNvPr>
          <p:cNvSpPr txBox="1">
            <a:spLocks/>
          </p:cNvSpPr>
          <p:nvPr/>
        </p:nvSpPr>
        <p:spPr>
          <a:xfrm>
            <a:off x="1162800" y="510927"/>
            <a:ext cx="9866400" cy="8656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Motivation and Problem Statement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BB7C3-93B6-728E-205F-D70043DA6360}"/>
              </a:ext>
            </a:extLst>
          </p:cNvPr>
          <p:cNvSpPr txBox="1"/>
          <p:nvPr/>
        </p:nvSpPr>
        <p:spPr>
          <a:xfrm>
            <a:off x="3204565" y="3621300"/>
            <a:ext cx="2774726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1400" dirty="0"/>
              <a:t>Traditional Approach: Sep</a:t>
            </a:r>
            <a:r>
              <a:rPr lang="en-IN" sz="1400" dirty="0"/>
              <a:t>a</a:t>
            </a:r>
            <a:r>
              <a:rPr lang="en" sz="1400" dirty="0"/>
              <a:t>rate Models (STL)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One model per task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High computation 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Inefficientcy in real-time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4D402-96FE-43E0-74C8-343C37D35670}"/>
              </a:ext>
            </a:extLst>
          </p:cNvPr>
          <p:cNvSpPr txBox="1"/>
          <p:nvPr/>
        </p:nvSpPr>
        <p:spPr>
          <a:xfrm>
            <a:off x="6212711" y="3621300"/>
            <a:ext cx="2774725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1400" dirty="0"/>
              <a:t>Multi-Task Learning(MTL):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Shared encoder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Multiple task heads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Reduced computation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Shared feature learning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400" dirty="0"/>
              <a:t>May cause negative transfer</a:t>
            </a:r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3FE72984-4321-8101-D896-E9355EC7E8DF}"/>
              </a:ext>
            </a:extLst>
          </p:cNvPr>
          <p:cNvSpPr/>
          <p:nvPr/>
        </p:nvSpPr>
        <p:spPr>
          <a:xfrm>
            <a:off x="2338993" y="5495258"/>
            <a:ext cx="7514013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F1F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Question</a:t>
            </a:r>
            <a:r>
              <a:rPr lang="en-IN" dirty="0"/>
              <a:t>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Does MTL improve both tasks equally, or do trade-offs emerge?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Placeholder 29" descr="White honeycomb">
            <a:extLst>
              <a:ext uri="{FF2B5EF4-FFF2-40B4-BE49-F238E27FC236}">
                <a16:creationId xmlns:a16="http://schemas.microsoft.com/office/drawing/2014/main" id="{DD4616B8-1560-47F8-A731-D3E7F12C309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" b="5"/>
          <a:stretch>
            <a:fillRect/>
          </a:stretch>
        </p:blipFill>
        <p:spPr/>
      </p:pic>
      <p:sp>
        <p:nvSpPr>
          <p:cNvPr id="1487" name="Google Shape;1487;p60"/>
          <p:cNvSpPr txBox="1">
            <a:spLocks noGrp="1"/>
          </p:cNvSpPr>
          <p:nvPr>
            <p:ph type="title"/>
          </p:nvPr>
        </p:nvSpPr>
        <p:spPr>
          <a:xfrm>
            <a:off x="1162800" y="719333"/>
            <a:ext cx="9866400" cy="865600"/>
          </a:xfrm>
          <a:prstGeom prst="rect">
            <a:avLst/>
          </a:prstGeom>
          <a:solidFill>
            <a:schemeClr val="bg2"/>
          </a:solidFill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Dataset &amp; Methodology</a:t>
            </a:r>
            <a:endParaRPr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5DB32802-E290-CE3A-F334-097C96EA8F7F}"/>
              </a:ext>
            </a:extLst>
          </p:cNvPr>
          <p:cNvSpPr/>
          <p:nvPr/>
        </p:nvSpPr>
        <p:spPr>
          <a:xfrm>
            <a:off x="1640565" y="2057400"/>
            <a:ext cx="2651760" cy="118872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en-IN" dirty="0"/>
          </a:p>
          <a:p>
            <a:pPr algn="ctr"/>
            <a:r>
              <a:rPr lang="en-IN" b="1" dirty="0"/>
              <a:t>BDD100K</a:t>
            </a:r>
          </a:p>
          <a:p>
            <a:pPr algn="ctr"/>
            <a:r>
              <a:rPr lang="en-IN" sz="1000" b="1" dirty="0"/>
              <a:t>10k subset</a:t>
            </a:r>
          </a:p>
          <a:p>
            <a:pPr algn="ctr"/>
            <a:endParaRPr lang="en-IN" sz="1000" dirty="0"/>
          </a:p>
          <a:p>
            <a:pPr algn="ctr"/>
            <a:r>
              <a:rPr lang="en-IN" sz="1200" dirty="0"/>
              <a:t>DATASET SOURCE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75EC33-D1D8-1490-CB75-6F4D2B4BD771}"/>
              </a:ext>
            </a:extLst>
          </p:cNvPr>
          <p:cNvSpPr/>
          <p:nvPr/>
        </p:nvSpPr>
        <p:spPr>
          <a:xfrm>
            <a:off x="4770089" y="20574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IN" b="1" dirty="0"/>
              <a:t>2,976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8283E09-3B95-EEC3-59CE-0723F06BDC3F}"/>
              </a:ext>
            </a:extLst>
          </p:cNvPr>
          <p:cNvSpPr/>
          <p:nvPr/>
        </p:nvSpPr>
        <p:spPr>
          <a:xfrm>
            <a:off x="7843720" y="2057399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IN" b="1" dirty="0"/>
              <a:t>2,380/596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487DAF3-A50C-3E0E-11AB-FE6F0B7F374B}"/>
              </a:ext>
            </a:extLst>
          </p:cNvPr>
          <p:cNvSpPr/>
          <p:nvPr/>
        </p:nvSpPr>
        <p:spPr>
          <a:xfrm>
            <a:off x="1640565" y="4125189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IN" b="1" dirty="0"/>
              <a:t>512 X 256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B1A9671-C48C-764C-2312-16D1A7513EFD}"/>
              </a:ext>
            </a:extLst>
          </p:cNvPr>
          <p:cNvSpPr/>
          <p:nvPr/>
        </p:nvSpPr>
        <p:spPr>
          <a:xfrm>
            <a:off x="4770089" y="4125191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IN" b="1" dirty="0"/>
              <a:t>19 classes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9047E7F-8B97-BA5E-6884-97D4120ECF86}"/>
              </a:ext>
            </a:extLst>
          </p:cNvPr>
          <p:cNvSpPr/>
          <p:nvPr/>
        </p:nvSpPr>
        <p:spPr>
          <a:xfrm>
            <a:off x="7899675" y="4125189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IN" b="1" dirty="0"/>
              <a:t>3 classes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2298DA3-5FF0-24A3-6420-D595D7C03DA7}"/>
              </a:ext>
            </a:extLst>
          </p:cNvPr>
          <p:cNvSpPr/>
          <p:nvPr/>
        </p:nvSpPr>
        <p:spPr>
          <a:xfrm>
            <a:off x="1640565" y="2051277"/>
            <a:ext cx="265176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1D6F0026-8FDE-EB88-18DA-C5186E181BC4}"/>
              </a:ext>
            </a:extLst>
          </p:cNvPr>
          <p:cNvSpPr/>
          <p:nvPr/>
        </p:nvSpPr>
        <p:spPr>
          <a:xfrm>
            <a:off x="4770089" y="2057400"/>
            <a:ext cx="265176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C07D7F8-1E73-B713-6FE5-C1119646192A}"/>
              </a:ext>
            </a:extLst>
          </p:cNvPr>
          <p:cNvSpPr/>
          <p:nvPr/>
        </p:nvSpPr>
        <p:spPr>
          <a:xfrm>
            <a:off x="7843720" y="2057399"/>
            <a:ext cx="265176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9B38B94F-8ED1-6F99-6499-2836A0368752}"/>
              </a:ext>
            </a:extLst>
          </p:cNvPr>
          <p:cNvSpPr/>
          <p:nvPr/>
        </p:nvSpPr>
        <p:spPr>
          <a:xfrm>
            <a:off x="1640565" y="4125189"/>
            <a:ext cx="265176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A3E05D00-92B8-37BD-B342-8153D4C9DC18}"/>
              </a:ext>
            </a:extLst>
          </p:cNvPr>
          <p:cNvSpPr/>
          <p:nvPr/>
        </p:nvSpPr>
        <p:spPr>
          <a:xfrm>
            <a:off x="4770089" y="4125191"/>
            <a:ext cx="265176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F48270FD-47D9-BC43-EA0A-DC900D464E39}"/>
              </a:ext>
            </a:extLst>
          </p:cNvPr>
          <p:cNvSpPr/>
          <p:nvPr/>
        </p:nvSpPr>
        <p:spPr>
          <a:xfrm>
            <a:off x="7899675" y="4134322"/>
            <a:ext cx="2651760" cy="640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8E867-96E3-7B33-CAD0-2000B5800C3F}"/>
              </a:ext>
            </a:extLst>
          </p:cNvPr>
          <p:cNvSpPr txBox="1"/>
          <p:nvPr/>
        </p:nvSpPr>
        <p:spPr>
          <a:xfrm>
            <a:off x="5191960" y="2969121"/>
            <a:ext cx="1808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FINAL SAMPLES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C9050B-36F7-CC30-342F-47C531730C02}"/>
              </a:ext>
            </a:extLst>
          </p:cNvPr>
          <p:cNvSpPr txBox="1"/>
          <p:nvPr/>
        </p:nvSpPr>
        <p:spPr>
          <a:xfrm>
            <a:off x="8321546" y="2969120"/>
            <a:ext cx="1808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TRAIN/VAL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97475A-3915-93E1-0297-643B60D002E8}"/>
              </a:ext>
            </a:extLst>
          </p:cNvPr>
          <p:cNvSpPr txBox="1"/>
          <p:nvPr/>
        </p:nvSpPr>
        <p:spPr>
          <a:xfrm>
            <a:off x="2062436" y="5036909"/>
            <a:ext cx="1808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INPUT RESOLUTION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5DF3C-B2C7-4373-4B39-A0E3512FBE24}"/>
              </a:ext>
            </a:extLst>
          </p:cNvPr>
          <p:cNvSpPr txBox="1"/>
          <p:nvPr/>
        </p:nvSpPr>
        <p:spPr>
          <a:xfrm>
            <a:off x="5191960" y="5036911"/>
            <a:ext cx="1808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SEGMENTATION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60934C-150A-B406-D9F8-F64B8F41012D}"/>
              </a:ext>
            </a:extLst>
          </p:cNvPr>
          <p:cNvSpPr txBox="1"/>
          <p:nvPr/>
        </p:nvSpPr>
        <p:spPr>
          <a:xfrm>
            <a:off x="8321546" y="5036909"/>
            <a:ext cx="1808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DRIVABLE AREA</a:t>
            </a: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CC62E1AA-B6E6-1372-ED6F-073B0944A089}"/>
              </a:ext>
            </a:extLst>
          </p:cNvPr>
          <p:cNvSpPr/>
          <p:nvPr/>
        </p:nvSpPr>
        <p:spPr>
          <a:xfrm>
            <a:off x="2131517" y="6010098"/>
            <a:ext cx="7928899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F1F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All three models are trained on  the same 2,976 samples for a fair comparison.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991D01-B190-27C3-2396-255D847A1239}"/>
              </a:ext>
            </a:extLst>
          </p:cNvPr>
          <p:cNvSpPr/>
          <p:nvPr/>
        </p:nvSpPr>
        <p:spPr>
          <a:xfrm>
            <a:off x="1668292" y="1487333"/>
            <a:ext cx="4731361" cy="428095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DE4BBDB-03AF-14AC-348E-29276174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9662" y="1688933"/>
            <a:ext cx="4308619" cy="3877757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sp>
        <p:nvSpPr>
          <p:cNvPr id="5" name="Shape 26">
            <a:extLst>
              <a:ext uri="{FF2B5EF4-FFF2-40B4-BE49-F238E27FC236}">
                <a16:creationId xmlns:a16="http://schemas.microsoft.com/office/drawing/2014/main" id="{3F1AF12B-1829-5B98-E24A-5A28BB2F0C3B}"/>
              </a:ext>
            </a:extLst>
          </p:cNvPr>
          <p:cNvSpPr/>
          <p:nvPr/>
        </p:nvSpPr>
        <p:spPr>
          <a:xfrm>
            <a:off x="1889760" y="5955787"/>
            <a:ext cx="8412480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F1F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/>
          <a:p>
            <a:pPr algn="ctr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Adam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=1e-4  |  Batch size=8  |  Max 10 epochs  |  Early stopping (patience=3)  |  Stopped at epoch 5</a:t>
            </a:r>
            <a:endParaRPr lang="en-US" sz="1400" dirty="0"/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11428-EF58-9745-36C7-1199B739D27B}"/>
              </a:ext>
            </a:extLst>
          </p:cNvPr>
          <p:cNvSpPr txBox="1"/>
          <p:nvPr/>
        </p:nvSpPr>
        <p:spPr>
          <a:xfrm>
            <a:off x="6002508" y="2055971"/>
            <a:ext cx="452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STL- Seg: Segmentation only</a:t>
            </a:r>
          </a:p>
          <a:p>
            <a:r>
              <a:rPr lang="en-IN" dirty="0"/>
              <a:t>	STL-Drive: Drivable Only</a:t>
            </a:r>
          </a:p>
          <a:p>
            <a:r>
              <a:rPr lang="en-IN" dirty="0"/>
              <a:t>	MTL-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/>
              <a:t>Shared ResNet-18 encoder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/>
              <a:t>Two Decoder Heads</a:t>
            </a:r>
          </a:p>
          <a:p>
            <a:endParaRPr lang="en-IN" dirty="0"/>
          </a:p>
          <a:p>
            <a:endParaRPr lang="en-IN" dirty="0"/>
          </a:p>
        </p:txBody>
      </p:sp>
      <p:grpSp>
        <p:nvGrpSpPr>
          <p:cNvPr id="19" name="Google Shape;2340;p88">
            <a:extLst>
              <a:ext uri="{FF2B5EF4-FFF2-40B4-BE49-F238E27FC236}">
                <a16:creationId xmlns:a16="http://schemas.microsoft.com/office/drawing/2014/main" id="{79FD1F4F-5E34-0437-5504-6DD0254390E1}"/>
              </a:ext>
            </a:extLst>
          </p:cNvPr>
          <p:cNvGrpSpPr/>
          <p:nvPr/>
        </p:nvGrpSpPr>
        <p:grpSpPr>
          <a:xfrm>
            <a:off x="6741682" y="2194889"/>
            <a:ext cx="162515" cy="90049"/>
            <a:chOff x="4791775" y="1877500"/>
            <a:chExt cx="66725" cy="36975"/>
          </a:xfrm>
        </p:grpSpPr>
        <p:sp>
          <p:nvSpPr>
            <p:cNvPr id="20" name="Google Shape;2341;p88">
              <a:extLst>
                <a:ext uri="{FF2B5EF4-FFF2-40B4-BE49-F238E27FC236}">
                  <a16:creationId xmlns:a16="http://schemas.microsoft.com/office/drawing/2014/main" id="{66E658F6-F346-4168-848F-3DBBD339146B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42;p88">
              <a:extLst>
                <a:ext uri="{FF2B5EF4-FFF2-40B4-BE49-F238E27FC236}">
                  <a16:creationId xmlns:a16="http://schemas.microsoft.com/office/drawing/2014/main" id="{4D3DABD3-1E84-7102-A3E2-0ADACDCD87A6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40;p88">
            <a:extLst>
              <a:ext uri="{FF2B5EF4-FFF2-40B4-BE49-F238E27FC236}">
                <a16:creationId xmlns:a16="http://schemas.microsoft.com/office/drawing/2014/main" id="{6E2D8875-975A-F70F-ED6B-4FD13AAAB277}"/>
              </a:ext>
            </a:extLst>
          </p:cNvPr>
          <p:cNvGrpSpPr/>
          <p:nvPr/>
        </p:nvGrpSpPr>
        <p:grpSpPr>
          <a:xfrm>
            <a:off x="6741682" y="2468457"/>
            <a:ext cx="162515" cy="90049"/>
            <a:chOff x="4791775" y="1877500"/>
            <a:chExt cx="66725" cy="36975"/>
          </a:xfrm>
        </p:grpSpPr>
        <p:sp>
          <p:nvSpPr>
            <p:cNvPr id="24" name="Google Shape;2341;p88">
              <a:extLst>
                <a:ext uri="{FF2B5EF4-FFF2-40B4-BE49-F238E27FC236}">
                  <a16:creationId xmlns:a16="http://schemas.microsoft.com/office/drawing/2014/main" id="{380E9F73-4036-367A-08B7-A877E7266659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342;p88">
              <a:extLst>
                <a:ext uri="{FF2B5EF4-FFF2-40B4-BE49-F238E27FC236}">
                  <a16:creationId xmlns:a16="http://schemas.microsoft.com/office/drawing/2014/main" id="{4AACFAAB-7DFB-D705-21B9-E2D4941FBBCD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340;p88">
            <a:extLst>
              <a:ext uri="{FF2B5EF4-FFF2-40B4-BE49-F238E27FC236}">
                <a16:creationId xmlns:a16="http://schemas.microsoft.com/office/drawing/2014/main" id="{0B39DDE3-7D8B-7F36-7029-DE6F0C484F5C}"/>
              </a:ext>
            </a:extLst>
          </p:cNvPr>
          <p:cNvGrpSpPr/>
          <p:nvPr/>
        </p:nvGrpSpPr>
        <p:grpSpPr>
          <a:xfrm>
            <a:off x="6741682" y="2740444"/>
            <a:ext cx="162515" cy="90049"/>
            <a:chOff x="4791775" y="1877500"/>
            <a:chExt cx="66725" cy="36975"/>
          </a:xfrm>
        </p:grpSpPr>
        <p:sp>
          <p:nvSpPr>
            <p:cNvPr id="27" name="Google Shape;2341;p88">
              <a:extLst>
                <a:ext uri="{FF2B5EF4-FFF2-40B4-BE49-F238E27FC236}">
                  <a16:creationId xmlns:a16="http://schemas.microsoft.com/office/drawing/2014/main" id="{D796115A-B868-261C-665F-FB64FFA858CE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342;p88">
              <a:extLst>
                <a:ext uri="{FF2B5EF4-FFF2-40B4-BE49-F238E27FC236}">
                  <a16:creationId xmlns:a16="http://schemas.microsoft.com/office/drawing/2014/main" id="{AC557FC8-7843-55F4-C640-06DEF6C4BA9B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1487;p60">
            <a:extLst>
              <a:ext uri="{FF2B5EF4-FFF2-40B4-BE49-F238E27FC236}">
                <a16:creationId xmlns:a16="http://schemas.microsoft.com/office/drawing/2014/main" id="{5423412F-37BF-9D18-D9B6-117741BD4F0F}"/>
              </a:ext>
            </a:extLst>
          </p:cNvPr>
          <p:cNvSpPr txBox="1">
            <a:spLocks/>
          </p:cNvSpPr>
          <p:nvPr/>
        </p:nvSpPr>
        <p:spPr>
          <a:xfrm>
            <a:off x="1466453" y="420132"/>
            <a:ext cx="9866400" cy="865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Model Architecture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>
          <a:extLst>
            <a:ext uri="{FF2B5EF4-FFF2-40B4-BE49-F238E27FC236}">
              <a16:creationId xmlns:a16="http://schemas.microsoft.com/office/drawing/2014/main" id="{B6B051C1-4EE9-FD93-415C-8B46C4E5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59" name="Google Shape;1359;p52">
                <a:extLst>
                  <a:ext uri="{FF2B5EF4-FFF2-40B4-BE49-F238E27FC236}">
                    <a16:creationId xmlns:a16="http://schemas.microsoft.com/office/drawing/2014/main" id="{95360235-C16B-5F90-8A30-ED9D53E2584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162800" y="1487333"/>
                <a:ext cx="6349827" cy="21235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/>
              <a:p>
                <a:pPr marL="0" lvl="0" indent="0">
                  <a:buClr>
                    <a:schemeClr val="dk1"/>
                  </a:buClr>
                  <a:buSzPts val="1100"/>
                  <a:buNone/>
                </a:pPr>
                <a:r>
                  <a:rPr lang="en" sz="1600" b="1" dirty="0"/>
                  <a:t>mIoU (Mean Intersection over Union)</a:t>
                </a:r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:r>
                  <a:rPr lang="en" sz="1600" b="1" dirty="0"/>
                  <a:t>Measures overlap between prediction and ground truth</a:t>
                </a:r>
              </a:p>
              <a:p>
                <a:pPr marL="0" indent="0">
                  <a:buClr>
                    <a:schemeClr val="dk1"/>
                  </a:buClr>
                  <a:buSzPts val="1100"/>
                  <a:buNone/>
                </a:pPr>
                <a:endParaRPr lang="en" sz="1600" b="1" dirty="0"/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:r>
                  <a:rPr lang="en" sz="1600" b="1" dirty="0"/>
                  <a:t>Higher mIoU means better segmentation performance</a:t>
                </a:r>
              </a:p>
              <a:p>
                <a:pPr marL="0" indent="0">
                  <a:buClr>
                    <a:schemeClr val="dk1"/>
                  </a:buClr>
                  <a:buSzPts val="1100"/>
                  <a:buNone/>
                </a:pPr>
                <a:endParaRPr lang="en" sz="1600" b="1" dirty="0"/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en-IN" sz="16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𝐈𝐨𝐔</m:t>
                    </m:r>
                    <m:r>
                      <a:rPr lang="en-IN" sz="16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𝑰𝒏𝒕𝒆𝒓𝒔𝒆𝒄𝒕𝒊𝒐𝒏</m:t>
                        </m:r>
                      </m:num>
                      <m:den>
                        <m:r>
                          <a:rPr lang="en-I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𝑼𝒏𝒊𝒐𝒏</m:t>
                        </m:r>
                      </m:den>
                    </m:f>
                  </m:oMath>
                </a14:m>
                <a:endParaRPr lang="en" sz="1600" b="1" dirty="0">
                  <a:solidFill>
                    <a:schemeClr val="tx1"/>
                  </a:solidFill>
                </a:endParaRPr>
              </a:p>
              <a:p>
                <a:pPr marL="0" indent="0">
                  <a:buClr>
                    <a:schemeClr val="dk1"/>
                  </a:buClr>
                  <a:buSzPts val="1100"/>
                  <a:buNone/>
                </a:pPr>
                <a:endParaRPr lang="en" sz="1600" b="1" dirty="0"/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:r>
                  <a:rPr lang="en" sz="1600" b="1" dirty="0"/>
                  <a:t>mIoU=Average IoU across classes</a:t>
                </a:r>
              </a:p>
            </p:txBody>
          </p:sp>
        </mc:Choice>
        <mc:Fallback>
          <p:sp>
            <p:nvSpPr>
              <p:cNvPr id="1359" name="Google Shape;1359;p52">
                <a:extLst>
                  <a:ext uri="{FF2B5EF4-FFF2-40B4-BE49-F238E27FC236}">
                    <a16:creationId xmlns:a16="http://schemas.microsoft.com/office/drawing/2014/main" id="{95360235-C16B-5F90-8A30-ED9D53E258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62800" y="1487333"/>
                <a:ext cx="6349827" cy="2123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0" name="Google Shape;1360;p52">
            <a:extLst>
              <a:ext uri="{FF2B5EF4-FFF2-40B4-BE49-F238E27FC236}">
                <a16:creationId xmlns:a16="http://schemas.microsoft.com/office/drawing/2014/main" id="{84851E61-9C67-0637-762B-D575398655CF}"/>
              </a:ext>
            </a:extLst>
          </p:cNvPr>
          <p:cNvGrpSpPr/>
          <p:nvPr/>
        </p:nvGrpSpPr>
        <p:grpSpPr>
          <a:xfrm flipH="1">
            <a:off x="9380169" y="2284673"/>
            <a:ext cx="3721715" cy="3466201"/>
            <a:chOff x="-1466486" y="2736279"/>
            <a:chExt cx="2791286" cy="2599651"/>
          </a:xfrm>
        </p:grpSpPr>
        <p:sp>
          <p:nvSpPr>
            <p:cNvPr id="1361" name="Google Shape;1361;p52">
              <a:extLst>
                <a:ext uri="{FF2B5EF4-FFF2-40B4-BE49-F238E27FC236}">
                  <a16:creationId xmlns:a16="http://schemas.microsoft.com/office/drawing/2014/main" id="{816DBA70-F640-43D8-B1EA-6B8CFA1CE85D}"/>
                </a:ext>
              </a:extLst>
            </p:cNvPr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362" name="Google Shape;1362;p52">
              <a:extLst>
                <a:ext uri="{FF2B5EF4-FFF2-40B4-BE49-F238E27FC236}">
                  <a16:creationId xmlns:a16="http://schemas.microsoft.com/office/drawing/2014/main" id="{976C240D-2CAB-8BDA-908F-C242A1FB48F6}"/>
                </a:ext>
              </a:extLst>
            </p:cNvPr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363" name="Google Shape;1363;p52">
                <a:extLst>
                  <a:ext uri="{FF2B5EF4-FFF2-40B4-BE49-F238E27FC236}">
                    <a16:creationId xmlns:a16="http://schemas.microsoft.com/office/drawing/2014/main" id="{6553A04F-4AA3-6A19-238E-BC4EDCB54D19}"/>
                  </a:ext>
                </a:extLst>
              </p:cNvPr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4" name="Google Shape;1364;p52">
                <a:extLst>
                  <a:ext uri="{FF2B5EF4-FFF2-40B4-BE49-F238E27FC236}">
                    <a16:creationId xmlns:a16="http://schemas.microsoft.com/office/drawing/2014/main" id="{9685F766-D5CB-35A8-7B7B-AB26A87BADE7}"/>
                  </a:ext>
                </a:extLst>
              </p:cNvPr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2" name="Google Shape;1487;p60">
            <a:extLst>
              <a:ext uri="{FF2B5EF4-FFF2-40B4-BE49-F238E27FC236}">
                <a16:creationId xmlns:a16="http://schemas.microsoft.com/office/drawing/2014/main" id="{14B06C29-7DD1-B0B2-A568-0085444AAF93}"/>
              </a:ext>
            </a:extLst>
          </p:cNvPr>
          <p:cNvSpPr txBox="1">
            <a:spLocks/>
          </p:cNvSpPr>
          <p:nvPr/>
        </p:nvSpPr>
        <p:spPr>
          <a:xfrm>
            <a:off x="1162800" y="510927"/>
            <a:ext cx="9866400" cy="8656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Evaluation Metrics &amp;Transfer Effects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1359;p52">
                <a:extLst>
                  <a:ext uri="{FF2B5EF4-FFF2-40B4-BE49-F238E27FC236}">
                    <a16:creationId xmlns:a16="http://schemas.microsoft.com/office/drawing/2014/main" id="{628F488A-5197-3E5C-F679-6D7F0F5B68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2800" y="3832521"/>
                <a:ext cx="6349827" cy="21235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>
                <a:lvl1pPr marL="609585" lvl="0" indent="-423323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Arial" panose="020B0604020202020204" pitchFamily="34" charset="0"/>
                  <a:buChar char="●"/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○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■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●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○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23323" algn="l" defTabSz="914400" rtl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Arial" panose="020B0604020202020204" pitchFamily="34" charset="0"/>
                  <a:buChar char="■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chemeClr val="dk1"/>
                  </a:buClr>
                  <a:buSzPts val="1100"/>
                  <a:buFont typeface="Arial" panose="020B0604020202020204" pitchFamily="34" charset="0"/>
                  <a:buNone/>
                </a:pPr>
                <a:r>
                  <a:rPr lang="en-IN" sz="1600" b="1" dirty="0"/>
                  <a:t>Transfer Effects</a:t>
                </a:r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:r>
                  <a:rPr lang="en-IN" sz="1600" b="1" dirty="0"/>
                  <a:t>Positive transfer= MTL performs better than STL</a:t>
                </a:r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:r>
                  <a:rPr lang="en-IN" sz="1600" b="1" dirty="0"/>
                  <a:t>Negative transfer= MTL performs worse than STL</a:t>
                </a:r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e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𝒎𝑰𝒐𝑼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𝒎𝑰𝒐𝑼</m:t>
                    </m:r>
                    <m:d>
                      <m:dPr>
                        <m:ctrlPr>
                          <a:rPr lang="en-IN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𝑴𝑻𝑳</m:t>
                        </m:r>
                      </m:e>
                    </m:d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𝒎𝑰𝒐𝑼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𝑺𝑻𝑳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" sz="1600" b="1" dirty="0"/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e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∆&gt;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𝑷𝒐𝒔𝒊𝒕𝒊𝒗𝒆</m:t>
                    </m:r>
                  </m:oMath>
                </a14:m>
                <a:endParaRPr lang="en-IN" sz="1600" b="1" dirty="0">
                  <a:ea typeface="Cambria Math" panose="02040503050406030204" pitchFamily="18" charset="0"/>
                </a:endParaRPr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en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IN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𝑵𝒆𝒈𝒂𝒕𝒊𝒗𝒆</m:t>
                    </m:r>
                  </m:oMath>
                </a14:m>
                <a:endParaRPr lang="en-IN" sz="1600" b="1" dirty="0">
                  <a:ea typeface="Cambria Math" panose="02040503050406030204" pitchFamily="18" charset="0"/>
                </a:endParaRPr>
              </a:p>
              <a:p>
                <a:pPr marL="285750" indent="-285750">
                  <a:buClr>
                    <a:schemeClr val="dk1"/>
                  </a:buClr>
                  <a:buSzPts val="1100"/>
                </a:pPr>
                <a:endParaRPr lang="en" sz="1400" b="1" dirty="0"/>
              </a:p>
            </p:txBody>
          </p:sp>
        </mc:Choice>
        <mc:Fallback>
          <p:sp>
            <p:nvSpPr>
              <p:cNvPr id="3" name="Google Shape;1359;p52">
                <a:extLst>
                  <a:ext uri="{FF2B5EF4-FFF2-40B4-BE49-F238E27FC236}">
                    <a16:creationId xmlns:a16="http://schemas.microsoft.com/office/drawing/2014/main" id="{628F488A-5197-3E5C-F679-6D7F0F5B6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800" y="3832521"/>
                <a:ext cx="6349827" cy="21235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596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 descr="White honeycomb">
            <a:extLst>
              <a:ext uri="{FF2B5EF4-FFF2-40B4-BE49-F238E27FC236}">
                <a16:creationId xmlns:a16="http://schemas.microsoft.com/office/drawing/2014/main" id="{79CC1B40-0821-17BA-6B74-285D11DEDDA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" b="5"/>
          <a:stretch>
            <a:fillRect/>
          </a:stretch>
        </p:blipFill>
        <p:spPr/>
      </p:pic>
      <p:sp>
        <p:nvSpPr>
          <p:cNvPr id="1487" name="Google Shape;1487;p60"/>
          <p:cNvSpPr txBox="1">
            <a:spLocks noGrp="1"/>
          </p:cNvSpPr>
          <p:nvPr>
            <p:ph type="title"/>
          </p:nvPr>
        </p:nvSpPr>
        <p:spPr>
          <a:xfrm>
            <a:off x="1162769" y="298899"/>
            <a:ext cx="9866400" cy="865600"/>
          </a:xfrm>
          <a:prstGeom prst="rect">
            <a:avLst/>
          </a:prstGeom>
          <a:solidFill>
            <a:schemeClr val="bg2"/>
          </a:solidFill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RESULTS</a:t>
            </a:r>
            <a:endParaRPr dirty="0"/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F1D8E93C-B234-CC29-B043-E03802FAAB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0495689"/>
              </p:ext>
            </p:extLst>
          </p:nvPr>
        </p:nvGraphicFramePr>
        <p:xfrm>
          <a:off x="1162800" y="1336026"/>
          <a:ext cx="4770640" cy="303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76890070-E5D5-2BFC-C1AD-23A9221EF2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546091"/>
              </p:ext>
            </p:extLst>
          </p:nvPr>
        </p:nvGraphicFramePr>
        <p:xfrm>
          <a:off x="6258562" y="1336026"/>
          <a:ext cx="4770638" cy="303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C0BF9B-1D30-F0E7-A334-7D8D7F504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441188"/>
              </p:ext>
            </p:extLst>
          </p:nvPr>
        </p:nvGraphicFramePr>
        <p:xfrm>
          <a:off x="1162770" y="4528946"/>
          <a:ext cx="4770670" cy="1828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93842">
                  <a:extLst>
                    <a:ext uri="{9D8B030D-6E8A-4147-A177-3AD203B41FA5}">
                      <a16:colId xmlns:a16="http://schemas.microsoft.com/office/drawing/2014/main" val="1093721478"/>
                    </a:ext>
                  </a:extLst>
                </a:gridCol>
                <a:gridCol w="1904531">
                  <a:extLst>
                    <a:ext uri="{9D8B030D-6E8A-4147-A177-3AD203B41FA5}">
                      <a16:colId xmlns:a16="http://schemas.microsoft.com/office/drawing/2014/main" val="1212355874"/>
                    </a:ext>
                  </a:extLst>
                </a:gridCol>
                <a:gridCol w="1472297">
                  <a:extLst>
                    <a:ext uri="{9D8B030D-6E8A-4147-A177-3AD203B41FA5}">
                      <a16:colId xmlns:a16="http://schemas.microsoft.com/office/drawing/2014/main" val="279590384"/>
                    </a:ext>
                  </a:extLst>
                </a:gridCol>
              </a:tblGrid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837450"/>
                  </a:ext>
                </a:extLst>
              </a:tr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STL-Seg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Best(E2)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0.2814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300922"/>
                  </a:ext>
                </a:extLst>
              </a:tr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MTL-Seg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Best(E2)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0.2945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042490"/>
                  </a:ext>
                </a:extLst>
              </a:tr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STL-Seg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Final(E5)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0.3099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0319955"/>
                  </a:ext>
                </a:extLst>
              </a:tr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MTL-Seg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Final(E5)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0.3074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1581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C86BBE-18C4-D96C-1BEF-435C4FEBF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241745"/>
              </p:ext>
            </p:extLst>
          </p:nvPr>
        </p:nvGraphicFramePr>
        <p:xfrm>
          <a:off x="6258561" y="4528946"/>
          <a:ext cx="4770607" cy="1828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93824">
                  <a:extLst>
                    <a:ext uri="{9D8B030D-6E8A-4147-A177-3AD203B41FA5}">
                      <a16:colId xmlns:a16="http://schemas.microsoft.com/office/drawing/2014/main" val="1093721478"/>
                    </a:ext>
                  </a:extLst>
                </a:gridCol>
                <a:gridCol w="1904505">
                  <a:extLst>
                    <a:ext uri="{9D8B030D-6E8A-4147-A177-3AD203B41FA5}">
                      <a16:colId xmlns:a16="http://schemas.microsoft.com/office/drawing/2014/main" val="1212355874"/>
                    </a:ext>
                  </a:extLst>
                </a:gridCol>
                <a:gridCol w="1472278">
                  <a:extLst>
                    <a:ext uri="{9D8B030D-6E8A-4147-A177-3AD203B41FA5}">
                      <a16:colId xmlns:a16="http://schemas.microsoft.com/office/drawing/2014/main" val="279590384"/>
                    </a:ext>
                  </a:extLst>
                </a:gridCol>
              </a:tblGrid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837450"/>
                  </a:ext>
                </a:extLst>
              </a:tr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STL-Drive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Best(E2)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0.6936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300922"/>
                  </a:ext>
                </a:extLst>
              </a:tr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MTL-Drive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Best(E2)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0.6508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042490"/>
                  </a:ext>
                </a:extLst>
              </a:tr>
              <a:tr h="296913">
                <a:tc>
                  <a:txBody>
                    <a:bodyPr/>
                    <a:lstStyle/>
                    <a:p>
                      <a:r>
                        <a:rPr lang="en-IN" dirty="0"/>
                        <a:t>STL-Drive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Final(E5)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0.7189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0319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MTL-Drive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Final(E5)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0.6740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158112"/>
                  </a:ext>
                </a:extLst>
              </a:tr>
            </a:tbl>
          </a:graphicData>
        </a:graphic>
      </p:graphicFrame>
      <p:grpSp>
        <p:nvGrpSpPr>
          <p:cNvPr id="9" name="Google Shape;1266;p46">
            <a:extLst>
              <a:ext uri="{FF2B5EF4-FFF2-40B4-BE49-F238E27FC236}">
                <a16:creationId xmlns:a16="http://schemas.microsoft.com/office/drawing/2014/main" id="{D5B04858-87D7-C890-EF0A-540CF0695421}"/>
              </a:ext>
            </a:extLst>
          </p:cNvPr>
          <p:cNvGrpSpPr/>
          <p:nvPr/>
        </p:nvGrpSpPr>
        <p:grpSpPr>
          <a:xfrm>
            <a:off x="-1263889" y="-1263911"/>
            <a:ext cx="2527777" cy="2527821"/>
            <a:chOff x="3835450" y="-252000"/>
            <a:chExt cx="1445325" cy="1445350"/>
          </a:xfrm>
        </p:grpSpPr>
        <p:sp>
          <p:nvSpPr>
            <p:cNvPr id="10" name="Google Shape;1267;p46">
              <a:extLst>
                <a:ext uri="{FF2B5EF4-FFF2-40B4-BE49-F238E27FC236}">
                  <a16:creationId xmlns:a16="http://schemas.microsoft.com/office/drawing/2014/main" id="{06D0841F-604F-DBEB-5889-A06E3523A0B7}"/>
                </a:ext>
              </a:extLst>
            </p:cNvPr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1268;p46">
              <a:extLst>
                <a:ext uri="{FF2B5EF4-FFF2-40B4-BE49-F238E27FC236}">
                  <a16:creationId xmlns:a16="http://schemas.microsoft.com/office/drawing/2014/main" id="{BF3440ED-3EC8-853D-2723-FCD319F0ACA2}"/>
                </a:ext>
              </a:extLst>
            </p:cNvPr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1269;p46">
              <a:extLst>
                <a:ext uri="{FF2B5EF4-FFF2-40B4-BE49-F238E27FC236}">
                  <a16:creationId xmlns:a16="http://schemas.microsoft.com/office/drawing/2014/main" id="{BF1CECBA-CA9D-8227-A0F1-4525E76E96C2}"/>
                </a:ext>
              </a:extLst>
            </p:cNvPr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1270;p46">
              <a:extLst>
                <a:ext uri="{FF2B5EF4-FFF2-40B4-BE49-F238E27FC236}">
                  <a16:creationId xmlns:a16="http://schemas.microsoft.com/office/drawing/2014/main" id="{1115CB9A-C58F-EE8C-2C79-9858703F2939}"/>
                </a:ext>
              </a:extLst>
            </p:cNvPr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Google Shape;1271;p46">
              <a:extLst>
                <a:ext uri="{FF2B5EF4-FFF2-40B4-BE49-F238E27FC236}">
                  <a16:creationId xmlns:a16="http://schemas.microsoft.com/office/drawing/2014/main" id="{940862CB-10AE-3804-ABED-D8B86497C034}"/>
                </a:ext>
              </a:extLst>
            </p:cNvPr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" name="Google Shape;8505;p90">
            <a:extLst>
              <a:ext uri="{FF2B5EF4-FFF2-40B4-BE49-F238E27FC236}">
                <a16:creationId xmlns:a16="http://schemas.microsoft.com/office/drawing/2014/main" id="{4CEEA838-0B66-0342-F9CC-B5E55B954514}"/>
              </a:ext>
            </a:extLst>
          </p:cNvPr>
          <p:cNvGrpSpPr/>
          <p:nvPr/>
        </p:nvGrpSpPr>
        <p:grpSpPr>
          <a:xfrm rot="5400000">
            <a:off x="11225778" y="3245636"/>
            <a:ext cx="1565716" cy="366729"/>
            <a:chOff x="1247650" y="2075423"/>
            <a:chExt cx="6648477" cy="1557238"/>
          </a:xfrm>
        </p:grpSpPr>
        <p:sp>
          <p:nvSpPr>
            <p:cNvPr id="16" name="Google Shape;8506;p90">
              <a:extLst>
                <a:ext uri="{FF2B5EF4-FFF2-40B4-BE49-F238E27FC236}">
                  <a16:creationId xmlns:a16="http://schemas.microsoft.com/office/drawing/2014/main" id="{B3C628C0-0E9A-5DF5-618A-A3616F3EDFAA}"/>
                </a:ext>
              </a:extLst>
            </p:cNvPr>
            <p:cNvSpPr/>
            <p:nvPr/>
          </p:nvSpPr>
          <p:spPr>
            <a:xfrm>
              <a:off x="6633862" y="2075423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4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4"/>
                  </a:lnTo>
                  <a:lnTo>
                    <a:pt x="4332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07;p90">
              <a:extLst>
                <a:ext uri="{FF2B5EF4-FFF2-40B4-BE49-F238E27FC236}">
                  <a16:creationId xmlns:a16="http://schemas.microsoft.com/office/drawing/2014/main" id="{2D78EF7F-4F9A-F9BD-DE26-BC261AB68F6B}"/>
                </a:ext>
              </a:extLst>
            </p:cNvPr>
            <p:cNvSpPr/>
            <p:nvPr/>
          </p:nvSpPr>
          <p:spPr>
            <a:xfrm>
              <a:off x="5359252" y="2806965"/>
              <a:ext cx="953461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3"/>
                  </a:lnTo>
                  <a:lnTo>
                    <a:pt x="4332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08;p90">
              <a:extLst>
                <a:ext uri="{FF2B5EF4-FFF2-40B4-BE49-F238E27FC236}">
                  <a16:creationId xmlns:a16="http://schemas.microsoft.com/office/drawing/2014/main" id="{C1FA5578-9BC2-F94C-0324-A5AD60083CDB}"/>
                </a:ext>
              </a:extLst>
            </p:cNvPr>
            <p:cNvSpPr/>
            <p:nvPr/>
          </p:nvSpPr>
          <p:spPr>
            <a:xfrm>
              <a:off x="1601478" y="2075425"/>
              <a:ext cx="953316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09;p90">
              <a:extLst>
                <a:ext uri="{FF2B5EF4-FFF2-40B4-BE49-F238E27FC236}">
                  <a16:creationId xmlns:a16="http://schemas.microsoft.com/office/drawing/2014/main" id="{78664DB3-6D5A-BF18-AC7E-167627678C73}"/>
                </a:ext>
              </a:extLst>
            </p:cNvPr>
            <p:cNvSpPr/>
            <p:nvPr/>
          </p:nvSpPr>
          <p:spPr>
            <a:xfrm>
              <a:off x="2857827" y="2807112"/>
              <a:ext cx="953370" cy="825320"/>
            </a:xfrm>
            <a:custGeom>
              <a:avLst/>
              <a:gdLst/>
              <a:ahLst/>
              <a:cxnLst/>
              <a:rect l="l" t="t" r="r" b="b"/>
              <a:pathLst>
                <a:path w="57780" h="50027" extrusionOk="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10;p90">
              <a:extLst>
                <a:ext uri="{FF2B5EF4-FFF2-40B4-BE49-F238E27FC236}">
                  <a16:creationId xmlns:a16="http://schemas.microsoft.com/office/drawing/2014/main" id="{B5BD03A6-7958-04D4-D131-7EAB20187AB0}"/>
                </a:ext>
              </a:extLst>
            </p:cNvPr>
            <p:cNvSpPr/>
            <p:nvPr/>
          </p:nvSpPr>
          <p:spPr>
            <a:xfrm>
              <a:off x="4097386" y="2075425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3"/>
                  </a:lnTo>
                  <a:lnTo>
                    <a:pt x="14439" y="50027"/>
                  </a:lnTo>
                  <a:lnTo>
                    <a:pt x="43328" y="50027"/>
                  </a:lnTo>
                  <a:lnTo>
                    <a:pt x="57767" y="25013"/>
                  </a:lnTo>
                  <a:lnTo>
                    <a:pt x="4332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11;p90">
              <a:extLst>
                <a:ext uri="{FF2B5EF4-FFF2-40B4-BE49-F238E27FC236}">
                  <a16:creationId xmlns:a16="http://schemas.microsoft.com/office/drawing/2014/main" id="{B64466A1-2FF8-CB58-E901-3607D66EFFF1}"/>
                </a:ext>
              </a:extLst>
            </p:cNvPr>
            <p:cNvSpPr/>
            <p:nvPr/>
          </p:nvSpPr>
          <p:spPr>
            <a:xfrm>
              <a:off x="1247650" y="2490334"/>
              <a:ext cx="6648477" cy="729445"/>
            </a:xfrm>
            <a:custGeom>
              <a:avLst/>
              <a:gdLst/>
              <a:ahLst/>
              <a:cxnLst/>
              <a:rect l="l" t="t" r="r" b="b"/>
              <a:pathLst>
                <a:path w="285373" h="31310" fill="none" extrusionOk="0">
                  <a:moveTo>
                    <a:pt x="285373" y="3317"/>
                  </a:moveTo>
                  <a:lnTo>
                    <a:pt x="269256" y="31309"/>
                  </a:lnTo>
                  <a:lnTo>
                    <a:pt x="233095" y="31309"/>
                  </a:lnTo>
                  <a:lnTo>
                    <a:pt x="215067" y="352"/>
                  </a:lnTo>
                  <a:lnTo>
                    <a:pt x="179426" y="352"/>
                  </a:lnTo>
                  <a:lnTo>
                    <a:pt x="161606" y="31218"/>
                  </a:lnTo>
                  <a:lnTo>
                    <a:pt x="125718" y="31309"/>
                  </a:lnTo>
                  <a:lnTo>
                    <a:pt x="107651" y="0"/>
                  </a:lnTo>
                  <a:lnTo>
                    <a:pt x="71490" y="0"/>
                  </a:lnTo>
                  <a:lnTo>
                    <a:pt x="53669" y="31075"/>
                  </a:lnTo>
                  <a:lnTo>
                    <a:pt x="18042" y="31075"/>
                  </a:lnTo>
                  <a:lnTo>
                    <a:pt x="0" y="118"/>
                  </a:lnTo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miter lim="1300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Shape 26">
            <a:extLst>
              <a:ext uri="{FF2B5EF4-FFF2-40B4-BE49-F238E27FC236}">
                <a16:creationId xmlns:a16="http://schemas.microsoft.com/office/drawing/2014/main" id="{502D5518-8350-E7E8-02F4-319E8866CA04}"/>
              </a:ext>
            </a:extLst>
          </p:cNvPr>
          <p:cNvSpPr/>
          <p:nvPr/>
        </p:nvSpPr>
        <p:spPr>
          <a:xfrm>
            <a:off x="1162800" y="6448105"/>
            <a:ext cx="9866399" cy="30464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F1F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/>
          <a:p>
            <a:pPr algn="ctr"/>
            <a:r>
              <a:rPr lang="en-US" sz="1400" b="1" dirty="0"/>
              <a:t>MTL shows transient early gains in segmentation but consistent negative transfer for drivable area</a:t>
            </a:r>
            <a:endParaRPr lang="en-IN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E5ACD15-A4C4-D257-6C5B-CDA83C500CE3}"/>
              </a:ext>
            </a:extLst>
          </p:cNvPr>
          <p:cNvSpPr/>
          <p:nvPr/>
        </p:nvSpPr>
        <p:spPr>
          <a:xfrm>
            <a:off x="2008208" y="1803335"/>
            <a:ext cx="18288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BCFCE3B-DCDE-72F7-0FC9-AF7442FC9B28}"/>
              </a:ext>
            </a:extLst>
          </p:cNvPr>
          <p:cNvSpPr/>
          <p:nvPr/>
        </p:nvSpPr>
        <p:spPr>
          <a:xfrm>
            <a:off x="2008208" y="1803335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0B8427A-BBFA-F58A-BA2C-1C0480E10F67}"/>
              </a:ext>
            </a:extLst>
          </p:cNvPr>
          <p:cNvSpPr/>
          <p:nvPr/>
        </p:nvSpPr>
        <p:spPr>
          <a:xfrm>
            <a:off x="3837008" y="1803335"/>
            <a:ext cx="13716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67593E2-35E9-96A3-F832-0E1AA8396FBD}"/>
              </a:ext>
            </a:extLst>
          </p:cNvPr>
          <p:cNvSpPr/>
          <p:nvPr/>
        </p:nvSpPr>
        <p:spPr>
          <a:xfrm>
            <a:off x="3837008" y="1803335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6A74322-0491-A0A3-1D0D-C1B53EFA0A92}"/>
              </a:ext>
            </a:extLst>
          </p:cNvPr>
          <p:cNvSpPr/>
          <p:nvPr/>
        </p:nvSpPr>
        <p:spPr>
          <a:xfrm>
            <a:off x="5208608" y="1803335"/>
            <a:ext cx="13716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D60A3B2-6566-8F5D-4234-393C28724362}"/>
              </a:ext>
            </a:extLst>
          </p:cNvPr>
          <p:cNvSpPr/>
          <p:nvPr/>
        </p:nvSpPr>
        <p:spPr>
          <a:xfrm>
            <a:off x="5208608" y="1803335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mIoU</a:t>
            </a:r>
            <a:endParaRPr lang="en-US" sz="1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B7CA65E-41E5-C70F-8A3C-7CC72BF5006A}"/>
              </a:ext>
            </a:extLst>
          </p:cNvPr>
          <p:cNvSpPr/>
          <p:nvPr/>
        </p:nvSpPr>
        <p:spPr>
          <a:xfrm>
            <a:off x="6580208" y="1803335"/>
            <a:ext cx="18288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4D92694-5242-CAE8-ADC2-7BA676CE2FD3}"/>
              </a:ext>
            </a:extLst>
          </p:cNvPr>
          <p:cNvSpPr/>
          <p:nvPr/>
        </p:nvSpPr>
        <p:spPr>
          <a:xfrm>
            <a:off x="6580208" y="1803335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 mIoU</a:t>
            </a:r>
            <a:endParaRPr lang="en-US" sz="11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70F8730-56BC-2E2F-D2E4-F7CF48B808B6}"/>
              </a:ext>
            </a:extLst>
          </p:cNvPr>
          <p:cNvSpPr/>
          <p:nvPr/>
        </p:nvSpPr>
        <p:spPr>
          <a:xfrm>
            <a:off x="8409008" y="1803335"/>
            <a:ext cx="18288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1E7911A-C06B-48AE-65CF-F76B45572D86}"/>
              </a:ext>
            </a:extLst>
          </p:cNvPr>
          <p:cNvSpPr/>
          <p:nvPr/>
        </p:nvSpPr>
        <p:spPr>
          <a:xfrm>
            <a:off x="8409008" y="1803335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/ Transfer</a:t>
            </a:r>
            <a:endParaRPr lang="en-US" sz="11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563666C-5253-E95F-7386-6454820179B0}"/>
              </a:ext>
            </a:extLst>
          </p:cNvPr>
          <p:cNvSpPr/>
          <p:nvPr/>
        </p:nvSpPr>
        <p:spPr>
          <a:xfrm>
            <a:off x="2008208" y="2187383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F13C51D-0469-EB17-D6EF-FF94E4AF9A19}"/>
              </a:ext>
            </a:extLst>
          </p:cNvPr>
          <p:cNvSpPr/>
          <p:nvPr/>
        </p:nvSpPr>
        <p:spPr>
          <a:xfrm>
            <a:off x="2008208" y="2187383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10160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19F2970-9EB4-6E44-2E29-22D25B517C98}"/>
              </a:ext>
            </a:extLst>
          </p:cNvPr>
          <p:cNvSpPr/>
          <p:nvPr/>
        </p:nvSpPr>
        <p:spPr>
          <a:xfrm>
            <a:off x="3837008" y="2187383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43D17916-CA61-30E1-CEC0-9D05F976D8FF}"/>
              </a:ext>
            </a:extLst>
          </p:cNvPr>
          <p:cNvSpPr/>
          <p:nvPr/>
        </p:nvSpPr>
        <p:spPr>
          <a:xfrm>
            <a:off x="3837008" y="2187383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(E2)</a:t>
            </a:r>
            <a:endParaRPr lang="en-US" sz="115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98D70A5-CABB-A3A9-4019-309FED99CA15}"/>
              </a:ext>
            </a:extLst>
          </p:cNvPr>
          <p:cNvSpPr/>
          <p:nvPr/>
        </p:nvSpPr>
        <p:spPr>
          <a:xfrm>
            <a:off x="5208608" y="2187383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E4FE32A3-4A3A-2456-5A83-D7BBEFF699E9}"/>
              </a:ext>
            </a:extLst>
          </p:cNvPr>
          <p:cNvSpPr/>
          <p:nvPr/>
        </p:nvSpPr>
        <p:spPr>
          <a:xfrm>
            <a:off x="5208608" y="2187383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0.2814</a:t>
            </a:r>
            <a:endParaRPr lang="en-US" sz="115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D8DA4F30-52EB-CAC8-EC89-A35CC4D73154}"/>
              </a:ext>
            </a:extLst>
          </p:cNvPr>
          <p:cNvSpPr/>
          <p:nvPr/>
        </p:nvSpPr>
        <p:spPr>
          <a:xfrm>
            <a:off x="6580208" y="2187383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5BC21480-4B24-94A2-BD48-5B80FDCC02A7}"/>
              </a:ext>
            </a:extLst>
          </p:cNvPr>
          <p:cNvSpPr/>
          <p:nvPr/>
        </p:nvSpPr>
        <p:spPr>
          <a:xfrm>
            <a:off x="6580208" y="2187383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0.2945</a:t>
            </a:r>
            <a:endParaRPr lang="en-US" sz="115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983DD100-A823-594D-C4D2-B0268AB6F3FF}"/>
              </a:ext>
            </a:extLst>
          </p:cNvPr>
          <p:cNvSpPr/>
          <p:nvPr/>
        </p:nvSpPr>
        <p:spPr>
          <a:xfrm>
            <a:off x="8409008" y="2187383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ADA0A3C8-B44D-47DA-5EAE-5F1F997D1387}"/>
              </a:ext>
            </a:extLst>
          </p:cNvPr>
          <p:cNvSpPr/>
          <p:nvPr/>
        </p:nvSpPr>
        <p:spPr>
          <a:xfrm>
            <a:off x="8409008" y="2187383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+1.31pp   Positive</a:t>
            </a:r>
            <a:endParaRPr lang="en-US" sz="115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2D22B53C-73D2-EC45-E941-45CC93F2642F}"/>
              </a:ext>
            </a:extLst>
          </p:cNvPr>
          <p:cNvSpPr/>
          <p:nvPr/>
        </p:nvSpPr>
        <p:spPr>
          <a:xfrm>
            <a:off x="2008208" y="2662871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155AE06C-F07E-02D9-D975-1B8A34D7C654}"/>
              </a:ext>
            </a:extLst>
          </p:cNvPr>
          <p:cNvSpPr/>
          <p:nvPr/>
        </p:nvSpPr>
        <p:spPr>
          <a:xfrm>
            <a:off x="2008208" y="2662871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10160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0B14263A-38A8-8908-8951-007449A6F62F}"/>
              </a:ext>
            </a:extLst>
          </p:cNvPr>
          <p:cNvSpPr/>
          <p:nvPr/>
        </p:nvSpPr>
        <p:spPr>
          <a:xfrm>
            <a:off x="3837008" y="2662871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9EC26E12-A584-3C8C-FF4E-A2B42A7831C0}"/>
              </a:ext>
            </a:extLst>
          </p:cNvPr>
          <p:cNvSpPr/>
          <p:nvPr/>
        </p:nvSpPr>
        <p:spPr>
          <a:xfrm>
            <a:off x="3837008" y="2662871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(E5)</a:t>
            </a:r>
            <a:endParaRPr lang="en-US" sz="1150" dirty="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9BE5792A-3A43-44DE-267F-61A0F6830F92}"/>
              </a:ext>
            </a:extLst>
          </p:cNvPr>
          <p:cNvSpPr/>
          <p:nvPr/>
        </p:nvSpPr>
        <p:spPr>
          <a:xfrm>
            <a:off x="5208608" y="2662871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541E10E1-F673-2661-D7D4-C1D7735C0A6E}"/>
              </a:ext>
            </a:extLst>
          </p:cNvPr>
          <p:cNvSpPr/>
          <p:nvPr/>
        </p:nvSpPr>
        <p:spPr>
          <a:xfrm>
            <a:off x="5208608" y="2662871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0.3099</a:t>
            </a:r>
            <a:endParaRPr lang="en-US" sz="1150" dirty="0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3E3CE7BD-B18F-919E-488F-1C88AA69B1FC}"/>
              </a:ext>
            </a:extLst>
          </p:cNvPr>
          <p:cNvSpPr/>
          <p:nvPr/>
        </p:nvSpPr>
        <p:spPr>
          <a:xfrm>
            <a:off x="6580208" y="2662871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27A8507B-1404-4C4A-1570-66E9C9C6353B}"/>
              </a:ext>
            </a:extLst>
          </p:cNvPr>
          <p:cNvSpPr/>
          <p:nvPr/>
        </p:nvSpPr>
        <p:spPr>
          <a:xfrm>
            <a:off x="6580208" y="2662871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0.3074</a:t>
            </a:r>
            <a:endParaRPr lang="en-US" sz="1150" dirty="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B2C638AD-7B2F-50C7-B88B-AD3D6D3E3A80}"/>
              </a:ext>
            </a:extLst>
          </p:cNvPr>
          <p:cNvSpPr/>
          <p:nvPr/>
        </p:nvSpPr>
        <p:spPr>
          <a:xfrm>
            <a:off x="8409008" y="2662871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2641166A-09E8-7E90-60BC-2DBCEAB0071B}"/>
              </a:ext>
            </a:extLst>
          </p:cNvPr>
          <p:cNvSpPr/>
          <p:nvPr/>
        </p:nvSpPr>
        <p:spPr>
          <a:xfrm>
            <a:off x="8409008" y="2662871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−0.25pp  Negative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C2A07EB3-A0EB-B51F-E79F-1D561369D155}"/>
              </a:ext>
            </a:extLst>
          </p:cNvPr>
          <p:cNvSpPr/>
          <p:nvPr/>
        </p:nvSpPr>
        <p:spPr>
          <a:xfrm>
            <a:off x="2008208" y="3138359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1524EE01-525A-1E49-E26B-06812363BF26}"/>
              </a:ext>
            </a:extLst>
          </p:cNvPr>
          <p:cNvSpPr/>
          <p:nvPr/>
        </p:nvSpPr>
        <p:spPr>
          <a:xfrm>
            <a:off x="2008208" y="3138359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10160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Area</a:t>
            </a:r>
            <a:endParaRPr lang="en-US" sz="115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C9C87C1A-BA33-A2BB-8BC5-B337AE141C6B}"/>
              </a:ext>
            </a:extLst>
          </p:cNvPr>
          <p:cNvSpPr/>
          <p:nvPr/>
        </p:nvSpPr>
        <p:spPr>
          <a:xfrm>
            <a:off x="3837008" y="3138359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0C27A2D1-81E4-AD66-5E43-5CCB605D9AED}"/>
              </a:ext>
            </a:extLst>
          </p:cNvPr>
          <p:cNvSpPr/>
          <p:nvPr/>
        </p:nvSpPr>
        <p:spPr>
          <a:xfrm>
            <a:off x="3837008" y="3138359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(E2)</a:t>
            </a:r>
            <a:endParaRPr lang="en-US" sz="1150" dirty="0"/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F62D2048-7AFC-5A82-2EE4-BF3F3F1B3260}"/>
              </a:ext>
            </a:extLst>
          </p:cNvPr>
          <p:cNvSpPr/>
          <p:nvPr/>
        </p:nvSpPr>
        <p:spPr>
          <a:xfrm>
            <a:off x="5208608" y="3138359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ABF20C12-0A94-8E51-6F67-51F2E560055D}"/>
              </a:ext>
            </a:extLst>
          </p:cNvPr>
          <p:cNvSpPr/>
          <p:nvPr/>
        </p:nvSpPr>
        <p:spPr>
          <a:xfrm>
            <a:off x="5208608" y="3138359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0.6936</a:t>
            </a:r>
            <a:endParaRPr lang="en-US" sz="1150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49F6A29F-8C1B-8D7F-603D-9FFACEFDA1EB}"/>
              </a:ext>
            </a:extLst>
          </p:cNvPr>
          <p:cNvSpPr/>
          <p:nvPr/>
        </p:nvSpPr>
        <p:spPr>
          <a:xfrm>
            <a:off x="6580208" y="3138359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23A354E1-39B4-509A-94BF-00384642BE49}"/>
              </a:ext>
            </a:extLst>
          </p:cNvPr>
          <p:cNvSpPr/>
          <p:nvPr/>
        </p:nvSpPr>
        <p:spPr>
          <a:xfrm>
            <a:off x="6580208" y="3138359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0.6508</a:t>
            </a:r>
            <a:endParaRPr lang="en-US" sz="1150" dirty="0"/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D52961AF-A0F3-2A3F-03C4-E5CFCAFBD388}"/>
              </a:ext>
            </a:extLst>
          </p:cNvPr>
          <p:cNvSpPr/>
          <p:nvPr/>
        </p:nvSpPr>
        <p:spPr>
          <a:xfrm>
            <a:off x="8409008" y="3138359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26AB04AC-014D-19FE-EAA9-1F675122B768}"/>
              </a:ext>
            </a:extLst>
          </p:cNvPr>
          <p:cNvSpPr/>
          <p:nvPr/>
        </p:nvSpPr>
        <p:spPr>
          <a:xfrm>
            <a:off x="8409008" y="3138359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−4.28pp   Negative</a:t>
            </a:r>
            <a:endParaRPr lang="en-US" sz="115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03B81EF9-E76A-070E-03B5-2C42F2C5ECD5}"/>
              </a:ext>
            </a:extLst>
          </p:cNvPr>
          <p:cNvSpPr/>
          <p:nvPr/>
        </p:nvSpPr>
        <p:spPr>
          <a:xfrm>
            <a:off x="2008208" y="3613847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FE4491DE-7742-8F57-48C4-F8D1F8992674}"/>
              </a:ext>
            </a:extLst>
          </p:cNvPr>
          <p:cNvSpPr/>
          <p:nvPr/>
        </p:nvSpPr>
        <p:spPr>
          <a:xfrm>
            <a:off x="2008208" y="3613847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10160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Area</a:t>
            </a:r>
            <a:endParaRPr lang="en-US" sz="1150" dirty="0"/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C9231E61-32E9-FDB5-021A-12AEC7AA0975}"/>
              </a:ext>
            </a:extLst>
          </p:cNvPr>
          <p:cNvSpPr/>
          <p:nvPr/>
        </p:nvSpPr>
        <p:spPr>
          <a:xfrm>
            <a:off x="3837008" y="3613847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1F57CE5B-AB8D-C7C3-154F-C836EDE1BB87}"/>
              </a:ext>
            </a:extLst>
          </p:cNvPr>
          <p:cNvSpPr/>
          <p:nvPr/>
        </p:nvSpPr>
        <p:spPr>
          <a:xfrm>
            <a:off x="3837008" y="3613847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(E5)</a:t>
            </a:r>
            <a:endParaRPr lang="en-US" sz="1150" dirty="0"/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118E085F-FF6A-7121-9C05-4A421D7C3621}"/>
              </a:ext>
            </a:extLst>
          </p:cNvPr>
          <p:cNvSpPr/>
          <p:nvPr/>
        </p:nvSpPr>
        <p:spPr>
          <a:xfrm>
            <a:off x="5208608" y="3613847"/>
            <a:ext cx="13716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73897492-3788-ED37-F143-D7BA2EC3D1D1}"/>
              </a:ext>
            </a:extLst>
          </p:cNvPr>
          <p:cNvSpPr/>
          <p:nvPr/>
        </p:nvSpPr>
        <p:spPr>
          <a:xfrm>
            <a:off x="5208608" y="3613847"/>
            <a:ext cx="13716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0.7189</a:t>
            </a:r>
            <a:endParaRPr lang="en-US" sz="1150" dirty="0"/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7983958A-FA53-7C6A-7981-7B80956605F8}"/>
              </a:ext>
            </a:extLst>
          </p:cNvPr>
          <p:cNvSpPr/>
          <p:nvPr/>
        </p:nvSpPr>
        <p:spPr>
          <a:xfrm>
            <a:off x="6580208" y="3613847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1C41EE88-FC3D-A331-63DF-C0DF6422D7AA}"/>
              </a:ext>
            </a:extLst>
          </p:cNvPr>
          <p:cNvSpPr/>
          <p:nvPr/>
        </p:nvSpPr>
        <p:spPr>
          <a:xfrm>
            <a:off x="6580208" y="3613847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0.6740</a:t>
            </a:r>
            <a:endParaRPr lang="en-US" sz="1150" dirty="0"/>
          </a:p>
        </p:txBody>
      </p:sp>
      <p:sp>
        <p:nvSpPr>
          <p:cNvPr id="50" name="Shape 50">
            <a:extLst>
              <a:ext uri="{FF2B5EF4-FFF2-40B4-BE49-F238E27FC236}">
                <a16:creationId xmlns:a16="http://schemas.microsoft.com/office/drawing/2014/main" id="{1A106456-F376-B17E-CAF3-46175F6D2CA6}"/>
              </a:ext>
            </a:extLst>
          </p:cNvPr>
          <p:cNvSpPr/>
          <p:nvPr/>
        </p:nvSpPr>
        <p:spPr>
          <a:xfrm>
            <a:off x="8409008" y="3613847"/>
            <a:ext cx="1828800" cy="475488"/>
          </a:xfrm>
          <a:prstGeom prst="rect">
            <a:avLst/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BA0A2031-238F-01B6-EA2E-9C82796221BD}"/>
              </a:ext>
            </a:extLst>
          </p:cNvPr>
          <p:cNvSpPr/>
          <p:nvPr/>
        </p:nvSpPr>
        <p:spPr>
          <a:xfrm>
            <a:off x="8409008" y="3613847"/>
            <a:ext cx="1828800" cy="4754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−4.49pp  Negative</a:t>
            </a:r>
            <a:endParaRPr lang="en-US" sz="1150" dirty="0"/>
          </a:p>
        </p:txBody>
      </p:sp>
      <p:sp>
        <p:nvSpPr>
          <p:cNvPr id="52" name="Google Shape;1487;p60">
            <a:extLst>
              <a:ext uri="{FF2B5EF4-FFF2-40B4-BE49-F238E27FC236}">
                <a16:creationId xmlns:a16="http://schemas.microsoft.com/office/drawing/2014/main" id="{0493CC39-7102-29E2-25EE-3D4D63F91A0C}"/>
              </a:ext>
            </a:extLst>
          </p:cNvPr>
          <p:cNvSpPr txBox="1">
            <a:spLocks/>
          </p:cNvSpPr>
          <p:nvPr/>
        </p:nvSpPr>
        <p:spPr>
          <a:xfrm>
            <a:off x="1162800" y="439791"/>
            <a:ext cx="9866400" cy="865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Transfer Effect Analysis</a:t>
            </a:r>
            <a:endParaRPr lang="en-IN" dirty="0"/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FFFA9DAB-9547-F1B7-481F-D7DC53CF9B0F}"/>
              </a:ext>
            </a:extLst>
          </p:cNvPr>
          <p:cNvSpPr/>
          <p:nvPr/>
        </p:nvSpPr>
        <p:spPr>
          <a:xfrm>
            <a:off x="2008208" y="4372337"/>
            <a:ext cx="3952754" cy="1188720"/>
          </a:xfrm>
          <a:prstGeom prst="rect">
            <a:avLst/>
          </a:prstGeom>
          <a:solidFill>
            <a:srgbClr val="95F59E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/>
          <a:p>
            <a:r>
              <a:rPr lang="en-IN" sz="1400" dirty="0"/>
              <a:t>Segmentation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Early benefit at epoch 2 (+1.31 pp), but it is temporary.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After convergence at epoch 5, it has -0.25 pp.</a:t>
            </a:r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5D1AFDD8-DA68-455A-ED1E-7D854B16116A}"/>
              </a:ext>
            </a:extLst>
          </p:cNvPr>
          <p:cNvSpPr/>
          <p:nvPr/>
        </p:nvSpPr>
        <p:spPr>
          <a:xfrm>
            <a:off x="6285054" y="4372337"/>
            <a:ext cx="3952754" cy="1188720"/>
          </a:xfrm>
          <a:prstGeom prst="rect">
            <a:avLst/>
          </a:prstGeom>
          <a:solidFill>
            <a:srgbClr val="FF6969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/>
          <a:p>
            <a:r>
              <a:rPr lang="en-IN" sz="1400" dirty="0"/>
              <a:t>Drivable Area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Consistent negative transfer at both checkpoints.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Harm to drivable task is much larger than any gain in segmentation.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7;p60">
            <a:extLst>
              <a:ext uri="{FF2B5EF4-FFF2-40B4-BE49-F238E27FC236}">
                <a16:creationId xmlns:a16="http://schemas.microsoft.com/office/drawing/2014/main" id="{727C7D07-C9C3-EAA7-4098-CF5E3EE9A06B}"/>
              </a:ext>
            </a:extLst>
          </p:cNvPr>
          <p:cNvSpPr txBox="1">
            <a:spLocks/>
          </p:cNvSpPr>
          <p:nvPr/>
        </p:nvSpPr>
        <p:spPr>
          <a:xfrm>
            <a:off x="1162800" y="393492"/>
            <a:ext cx="9866400" cy="865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Training Dynamics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D138B-EEE0-2AA7-E782-3FD3E9B45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85" y="1559682"/>
            <a:ext cx="3869810" cy="24186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4DAEB6-C6B6-3159-148F-41BB17289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095" y="1559683"/>
            <a:ext cx="3869810" cy="24186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CD249A-876B-E24A-9FB3-FD1CA49A14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05" y="1559681"/>
            <a:ext cx="3869810" cy="24186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Shape 16">
            <a:extLst>
              <a:ext uri="{FF2B5EF4-FFF2-40B4-BE49-F238E27FC236}">
                <a16:creationId xmlns:a16="http://schemas.microsoft.com/office/drawing/2014/main" id="{83A49D3D-95D5-4745-658F-E627CB6294D6}"/>
              </a:ext>
            </a:extLst>
          </p:cNvPr>
          <p:cNvSpPr/>
          <p:nvPr/>
        </p:nvSpPr>
        <p:spPr>
          <a:xfrm>
            <a:off x="1162800" y="4059445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 All models converge by epoch 2.</a:t>
            </a: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5CD51B34-2037-3E5C-16D8-2C8F5F819CB6}"/>
              </a:ext>
            </a:extLst>
          </p:cNvPr>
          <p:cNvSpPr/>
          <p:nvPr/>
        </p:nvSpPr>
        <p:spPr>
          <a:xfrm>
            <a:off x="1162800" y="4579488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Validation loss increases afterward → overfitting begins.</a:t>
            </a: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FBCF895-7378-9CA5-A8AF-D8EA63434B54}"/>
              </a:ext>
            </a:extLst>
          </p:cNvPr>
          <p:cNvSpPr/>
          <p:nvPr/>
        </p:nvSpPr>
        <p:spPr>
          <a:xfrm>
            <a:off x="1162800" y="5099531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Training loss continues decreasing → model overfits training data.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6B5EA7B-FB44-EC6A-09A6-94717BB19CB0}"/>
              </a:ext>
            </a:extLst>
          </p:cNvPr>
          <p:cNvSpPr/>
          <p:nvPr/>
        </p:nvSpPr>
        <p:spPr>
          <a:xfrm>
            <a:off x="1162800" y="5619574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Early stopping helps control overfitting.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E91CFA1A-7529-C059-AB93-1CD8EC697B8A}"/>
              </a:ext>
            </a:extLst>
          </p:cNvPr>
          <p:cNvSpPr/>
          <p:nvPr/>
        </p:nvSpPr>
        <p:spPr>
          <a:xfrm>
            <a:off x="1162800" y="6139617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Best performance occurs before full convergence.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7;p60">
            <a:extLst>
              <a:ext uri="{FF2B5EF4-FFF2-40B4-BE49-F238E27FC236}">
                <a16:creationId xmlns:a16="http://schemas.microsoft.com/office/drawing/2014/main" id="{3BD40001-9DEE-6A01-DE83-EEFB55796A03}"/>
              </a:ext>
            </a:extLst>
          </p:cNvPr>
          <p:cNvSpPr txBox="1">
            <a:spLocks/>
          </p:cNvSpPr>
          <p:nvPr/>
        </p:nvSpPr>
        <p:spPr>
          <a:xfrm>
            <a:off x="1162800" y="352852"/>
            <a:ext cx="9866400" cy="865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Qualitative Findings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0AAB5E-701F-CD6C-3B6F-91A2BB2BE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99" y="1522490"/>
            <a:ext cx="5898101" cy="19682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35E068-BAD9-5887-5787-843C11DCF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98" y="3794760"/>
            <a:ext cx="5898101" cy="19682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Shape 16">
            <a:extLst>
              <a:ext uri="{FF2B5EF4-FFF2-40B4-BE49-F238E27FC236}">
                <a16:creationId xmlns:a16="http://schemas.microsoft.com/office/drawing/2014/main" id="{F3298022-36BD-6A4B-F768-AE742D97A441}"/>
              </a:ext>
            </a:extLst>
          </p:cNvPr>
          <p:cNvSpPr/>
          <p:nvPr/>
        </p:nvSpPr>
        <p:spPr>
          <a:xfrm>
            <a:off x="6359235" y="1522491"/>
            <a:ext cx="5081155" cy="1968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Segmentation: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models agree on large regions (road, sky, buildings). Differences are subtle.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MTL shows slightly cleaner mid-image boundaries in complex scenes.</a:t>
            </a:r>
          </a:p>
          <a:p>
            <a:endParaRPr lang="en-IN" dirty="0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CF0D60F6-7C8C-912F-C5CC-AA67883D4887}"/>
              </a:ext>
            </a:extLst>
          </p:cNvPr>
          <p:cNvSpPr/>
          <p:nvPr/>
        </p:nvSpPr>
        <p:spPr>
          <a:xfrm>
            <a:off x="6359234" y="3794760"/>
            <a:ext cx="5081156" cy="1968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b="1" dirty="0"/>
              <a:t>Drivable Area: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STL better separates directly drivable (yellow) vs. alternative (teal)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MTL over-segments and blurs the boundary between drivable classes.</a:t>
            </a:r>
          </a:p>
          <a:p>
            <a:endParaRPr lang="en-IN" dirty="0"/>
          </a:p>
        </p:txBody>
      </p:sp>
      <p:sp>
        <p:nvSpPr>
          <p:cNvPr id="12" name="Shape 26">
            <a:extLst>
              <a:ext uri="{FF2B5EF4-FFF2-40B4-BE49-F238E27FC236}">
                <a16:creationId xmlns:a16="http://schemas.microsoft.com/office/drawing/2014/main" id="{BFD744C4-FBCC-A9C1-AA91-44B395BB978B}"/>
              </a:ext>
            </a:extLst>
          </p:cNvPr>
          <p:cNvSpPr/>
          <p:nvPr/>
        </p:nvSpPr>
        <p:spPr>
          <a:xfrm>
            <a:off x="1434983" y="6067029"/>
            <a:ext cx="9322032" cy="54158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 anchor="ctr"/>
          <a:lstStyle/>
          <a:p>
            <a:r>
              <a:rPr lang="en-US" sz="1400" dirty="0"/>
              <a:t>Qualitative differences are more pronounced for drivable area — consistent with the −4.28 to −4.49pp quantitative gap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87;p60">
            <a:extLst>
              <a:ext uri="{FF2B5EF4-FFF2-40B4-BE49-F238E27FC236}">
                <a16:creationId xmlns:a16="http://schemas.microsoft.com/office/drawing/2014/main" id="{CA750AB1-227D-080B-92C4-7F44E5506F68}"/>
              </a:ext>
            </a:extLst>
          </p:cNvPr>
          <p:cNvSpPr txBox="1">
            <a:spLocks/>
          </p:cNvSpPr>
          <p:nvPr/>
        </p:nvSpPr>
        <p:spPr>
          <a:xfrm>
            <a:off x="1162800" y="370891"/>
            <a:ext cx="9866400" cy="865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Why Negative Transfer?</a:t>
            </a:r>
            <a:endParaRPr lang="en-IN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38D260D-CB32-E4D9-924A-5D25B1BED129}"/>
              </a:ext>
            </a:extLst>
          </p:cNvPr>
          <p:cNvSpPr/>
          <p:nvPr/>
        </p:nvSpPr>
        <p:spPr>
          <a:xfrm>
            <a:off x="1879600" y="1483360"/>
            <a:ext cx="2560320" cy="1694688"/>
          </a:xfrm>
          <a:prstGeom prst="rect">
            <a:avLst/>
          </a:prstGeom>
          <a:solidFill>
            <a:srgbClr val="EBF4FF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6E12CD3-F56F-BED8-3446-7E4714FBED64}"/>
              </a:ext>
            </a:extLst>
          </p:cNvPr>
          <p:cNvSpPr/>
          <p:nvPr/>
        </p:nvSpPr>
        <p:spPr>
          <a:xfrm>
            <a:off x="1879600" y="1483359"/>
            <a:ext cx="2560320" cy="474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Task</a:t>
            </a:r>
            <a:endParaRPr lang="en-US" sz="1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6149DE1-F315-BA93-7BA9-41386CA8153C}"/>
              </a:ext>
            </a:extLst>
          </p:cNvPr>
          <p:cNvSpPr/>
          <p:nvPr/>
        </p:nvSpPr>
        <p:spPr>
          <a:xfrm>
            <a:off x="1879600" y="1867408"/>
            <a:ext cx="2560320" cy="1129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output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complex loss surface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gradient signals</a:t>
            </a:r>
            <a:endParaRPr lang="en-US" sz="11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593DEE0-A00E-264D-D0C1-131775C82052}"/>
              </a:ext>
            </a:extLst>
          </p:cNvPr>
          <p:cNvSpPr/>
          <p:nvPr/>
        </p:nvSpPr>
        <p:spPr>
          <a:xfrm>
            <a:off x="7731760" y="1483360"/>
            <a:ext cx="2560320" cy="1694688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49E347-7785-264F-A73E-7DB87444EF28}"/>
              </a:ext>
            </a:extLst>
          </p:cNvPr>
          <p:cNvSpPr/>
          <p:nvPr/>
        </p:nvSpPr>
        <p:spPr>
          <a:xfrm>
            <a:off x="7731760" y="1483359"/>
            <a:ext cx="2560320" cy="474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Area Task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82F7EA7-54FC-2E29-C8B8-2F049989FE20}"/>
              </a:ext>
            </a:extLst>
          </p:cNvPr>
          <p:cNvSpPr/>
          <p:nvPr/>
        </p:nvSpPr>
        <p:spPr>
          <a:xfrm>
            <a:off x="7731760" y="1867408"/>
            <a:ext cx="2560320" cy="1129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loss surface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gradient signals</a:t>
            </a:r>
            <a:endParaRPr lang="en-US" sz="11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676B9E2-6D4B-9B26-AFDD-2F231F50211F}"/>
              </a:ext>
            </a:extLst>
          </p:cNvPr>
          <p:cNvSpPr/>
          <p:nvPr/>
        </p:nvSpPr>
        <p:spPr>
          <a:xfrm>
            <a:off x="4805680" y="1483360"/>
            <a:ext cx="2560320" cy="16946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75EC285-887C-1E46-FB7F-72BC62698689}"/>
              </a:ext>
            </a:extLst>
          </p:cNvPr>
          <p:cNvSpPr/>
          <p:nvPr/>
        </p:nvSpPr>
        <p:spPr>
          <a:xfrm>
            <a:off x="4805680" y="1483360"/>
            <a:ext cx="2560320" cy="1694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287999B-D078-EC09-E2DE-14B56715B3A3}"/>
              </a:ext>
            </a:extLst>
          </p:cNvPr>
          <p:cNvSpPr/>
          <p:nvPr/>
        </p:nvSpPr>
        <p:spPr>
          <a:xfrm>
            <a:off x="4439920" y="2281935"/>
            <a:ext cx="365760" cy="90383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E11D5B0E-DB10-A0C1-5359-82B96B547EC7}"/>
              </a:ext>
            </a:extLst>
          </p:cNvPr>
          <p:cNvSpPr/>
          <p:nvPr/>
        </p:nvSpPr>
        <p:spPr>
          <a:xfrm>
            <a:off x="7366000" y="2281936"/>
            <a:ext cx="365760" cy="90383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1ACA118-1E4B-109A-9FF5-8D763C193C9E}"/>
              </a:ext>
            </a:extLst>
          </p:cNvPr>
          <p:cNvSpPr/>
          <p:nvPr/>
        </p:nvSpPr>
        <p:spPr>
          <a:xfrm>
            <a:off x="4302760" y="1679956"/>
            <a:ext cx="3566160" cy="28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Large gradients dominate →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1977F56-EB9B-9CDD-CEC9-D1908B60F4D3}"/>
              </a:ext>
            </a:extLst>
          </p:cNvPr>
          <p:cNvSpPr/>
          <p:nvPr/>
        </p:nvSpPr>
        <p:spPr>
          <a:xfrm>
            <a:off x="4302760" y="2663952"/>
            <a:ext cx="3566160" cy="28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Small gradients overwhelmed ←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Shape 14">
                <a:extLst>
                  <a:ext uri="{FF2B5EF4-FFF2-40B4-BE49-F238E27FC236}">
                    <a16:creationId xmlns:a16="http://schemas.microsoft.com/office/drawing/2014/main" id="{3F4A3E74-DE8F-BF79-F37C-BA48CFEF5DD1}"/>
                  </a:ext>
                </a:extLst>
              </p:cNvPr>
              <p:cNvSpPr/>
              <p:nvPr/>
            </p:nvSpPr>
            <p:spPr>
              <a:xfrm>
                <a:off x="4353560" y="3381248"/>
                <a:ext cx="3484880" cy="502920"/>
              </a:xfrm>
              <a:prstGeom prst="rect">
                <a:avLst/>
              </a:prstGeom>
              <a:solidFill>
                <a:srgbClr val="FFF9C4"/>
              </a:solidFill>
              <a:ln w="12700">
                <a:solidFill>
                  <a:srgbClr val="F39C12"/>
                </a:solidFill>
                <a:prstDash val="solid"/>
              </a:ln>
            </p:spPr>
            <p:txBody>
              <a:bodyPr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𝑆𝑒𝑔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𝐷𝑟𝑖𝑣𝑒</m:t>
                        </m:r>
                      </m:sub>
                    </m:sSub>
                  </m:oMath>
                </a14:m>
                <a:r>
                  <a:rPr lang="en-IN" dirty="0"/>
                  <a:t> (equal 1:1)</a:t>
                </a:r>
              </a:p>
            </p:txBody>
          </p:sp>
        </mc:Choice>
        <mc:Fallback>
          <p:sp>
            <p:nvSpPr>
              <p:cNvPr id="18" name="Shape 14">
                <a:extLst>
                  <a:ext uri="{FF2B5EF4-FFF2-40B4-BE49-F238E27FC236}">
                    <a16:creationId xmlns:a16="http://schemas.microsoft.com/office/drawing/2014/main" id="{3F4A3E74-DE8F-BF79-F37C-BA48CFEF5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560" y="3381248"/>
                <a:ext cx="3484880" cy="502920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  <a:ln w="12700">
                <a:solidFill>
                  <a:srgbClr val="F39C12"/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6">
            <a:extLst>
              <a:ext uri="{FF2B5EF4-FFF2-40B4-BE49-F238E27FC236}">
                <a16:creationId xmlns:a16="http://schemas.microsoft.com/office/drawing/2014/main" id="{5F161C3B-2FD9-40DE-2153-8AD81335AE92}"/>
              </a:ext>
            </a:extLst>
          </p:cNvPr>
          <p:cNvSpPr/>
          <p:nvPr/>
        </p:nvSpPr>
        <p:spPr>
          <a:xfrm>
            <a:off x="1162800" y="4048760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Encoder optimized for segmentation output classes and not for easier drivable classification.</a:t>
            </a: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B0B42C5-5A53-6AE8-575C-55933120B8D3}"/>
              </a:ext>
            </a:extLst>
          </p:cNvPr>
          <p:cNvSpPr/>
          <p:nvPr/>
        </p:nvSpPr>
        <p:spPr>
          <a:xfrm>
            <a:off x="1162800" y="4782686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Task gradient imbalance is a primary mechanism for negative transfer.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A824063D-11B4-BA54-7410-52C0B3117A6F}"/>
              </a:ext>
            </a:extLst>
          </p:cNvPr>
          <p:cNvSpPr/>
          <p:nvPr/>
        </p:nvSpPr>
        <p:spPr>
          <a:xfrm>
            <a:off x="1162800" y="5516612"/>
            <a:ext cx="98664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IN" dirty="0"/>
              <a:t>Magnitude asymmetry: </a:t>
            </a:r>
            <a:r>
              <a:rPr lang="en-US" dirty="0"/>
              <a:t>Damage to drivable is much larger than benefit to segmentation.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87;p60">
            <a:extLst>
              <a:ext uri="{FF2B5EF4-FFF2-40B4-BE49-F238E27FC236}">
                <a16:creationId xmlns:a16="http://schemas.microsoft.com/office/drawing/2014/main" id="{1ABE5AFA-700B-4140-3BC1-BC07CF6E8BD0}"/>
              </a:ext>
            </a:extLst>
          </p:cNvPr>
          <p:cNvSpPr txBox="1">
            <a:spLocks/>
          </p:cNvSpPr>
          <p:nvPr/>
        </p:nvSpPr>
        <p:spPr>
          <a:xfrm>
            <a:off x="1162800" y="370891"/>
            <a:ext cx="9866400" cy="865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 kern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" dirty="0"/>
              <a:t>Conclusion &amp; Future Work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EB9F8-2459-7607-8B59-CC473E33E125}"/>
              </a:ext>
            </a:extLst>
          </p:cNvPr>
          <p:cNvSpPr txBox="1"/>
          <p:nvPr/>
        </p:nvSpPr>
        <p:spPr>
          <a:xfrm>
            <a:off x="1163782" y="1589809"/>
            <a:ext cx="4738254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FINDINGS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C4A11-9377-A4C3-312E-91F327FE8C62}"/>
              </a:ext>
            </a:extLst>
          </p:cNvPr>
          <p:cNvSpPr txBox="1"/>
          <p:nvPr/>
        </p:nvSpPr>
        <p:spPr>
          <a:xfrm>
            <a:off x="6289964" y="1589809"/>
            <a:ext cx="473825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BCFA69B-827D-ADFF-36A0-215DA0CAF605}"/>
              </a:ext>
            </a:extLst>
          </p:cNvPr>
          <p:cNvSpPr/>
          <p:nvPr/>
        </p:nvSpPr>
        <p:spPr>
          <a:xfrm>
            <a:off x="1162800" y="2196639"/>
            <a:ext cx="4738254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74C3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Drivable Area</a:t>
            </a:r>
            <a:r>
              <a:rPr lang="en-IN" dirty="0"/>
              <a:t>:</a:t>
            </a:r>
          </a:p>
          <a:p>
            <a:r>
              <a:rPr lang="en-IN" sz="1400" dirty="0"/>
              <a:t>Consistent negative transfer at all checkpoints.(-4.28pp to -4.49pp).</a:t>
            </a: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1D5115C2-19B9-B9DD-514D-E2FBE9282860}"/>
              </a:ext>
            </a:extLst>
          </p:cNvPr>
          <p:cNvSpPr/>
          <p:nvPr/>
        </p:nvSpPr>
        <p:spPr>
          <a:xfrm>
            <a:off x="1162800" y="3426922"/>
            <a:ext cx="4738254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74C3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Segmentation</a:t>
            </a:r>
            <a:r>
              <a:rPr lang="en-IN" dirty="0"/>
              <a:t>: </a:t>
            </a:r>
          </a:p>
          <a:p>
            <a:r>
              <a:rPr lang="en-IN" sz="1400" dirty="0"/>
              <a:t>Early temporary benefit(+1.31pp, E2) but after convergence it is neutral.</a:t>
            </a:r>
          </a:p>
          <a:p>
            <a:endParaRPr lang="en-IN" sz="16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032EC94-0DDA-A51E-7DD7-828F2CCA7BF3}"/>
              </a:ext>
            </a:extLst>
          </p:cNvPr>
          <p:cNvSpPr/>
          <p:nvPr/>
        </p:nvSpPr>
        <p:spPr>
          <a:xfrm>
            <a:off x="1162800" y="4657205"/>
            <a:ext cx="4738254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74C3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Equal Weight Sharing</a:t>
            </a:r>
            <a:r>
              <a:rPr lang="en-IN" dirty="0"/>
              <a:t>:</a:t>
            </a:r>
          </a:p>
          <a:p>
            <a:r>
              <a:rPr lang="en-IN" sz="1400" dirty="0"/>
              <a:t>Not sufficient when task differs in complexity.</a:t>
            </a: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FE8627AE-ECB2-4C61-CA0C-EC76CDCBEC03}"/>
              </a:ext>
            </a:extLst>
          </p:cNvPr>
          <p:cNvSpPr/>
          <p:nvPr/>
        </p:nvSpPr>
        <p:spPr>
          <a:xfrm>
            <a:off x="6289964" y="2196639"/>
            <a:ext cx="4738254" cy="8229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D9CD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Adaptive Loss Weighting</a:t>
            </a:r>
            <a:r>
              <a:rPr lang="en-IN" dirty="0"/>
              <a:t>:</a:t>
            </a:r>
          </a:p>
          <a:p>
            <a:r>
              <a:rPr lang="en-IN" sz="1400" dirty="0"/>
              <a:t>Uncertainty-based or gradient normalisation to dynamically balance task contributions.</a:t>
            </a:r>
            <a:r>
              <a:rPr lang="en-IN" dirty="0"/>
              <a:t> 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7E8619C-B2E6-5A33-1913-142903E643BE}"/>
              </a:ext>
            </a:extLst>
          </p:cNvPr>
          <p:cNvSpPr/>
          <p:nvPr/>
        </p:nvSpPr>
        <p:spPr>
          <a:xfrm>
            <a:off x="6289963" y="3426922"/>
            <a:ext cx="4738253" cy="8229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D9CD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Better Encoder Setup</a:t>
            </a:r>
            <a:r>
              <a:rPr lang="en-IN" dirty="0"/>
              <a:t>:</a:t>
            </a:r>
          </a:p>
          <a:p>
            <a:r>
              <a:rPr lang="en-IN" sz="1400" dirty="0"/>
              <a:t>Using partial sharing or task-gated encoders to accommodate different feature requirement.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12B5C81C-EB39-F29F-91C4-5C63232B7F47}"/>
              </a:ext>
            </a:extLst>
          </p:cNvPr>
          <p:cNvSpPr/>
          <p:nvPr/>
        </p:nvSpPr>
        <p:spPr>
          <a:xfrm>
            <a:off x="6289963" y="4657205"/>
            <a:ext cx="4738253" cy="8229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D9CD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Stronger Architecture</a:t>
            </a:r>
            <a:r>
              <a:rPr lang="en-IN" dirty="0"/>
              <a:t>:</a:t>
            </a:r>
          </a:p>
          <a:p>
            <a:r>
              <a:rPr lang="en-IN" sz="1400" dirty="0"/>
              <a:t>Using better encoders(</a:t>
            </a:r>
            <a:r>
              <a:rPr lang="en-IN" sz="1400" dirty="0" err="1"/>
              <a:t>EfficientNet</a:t>
            </a:r>
            <a:r>
              <a:rPr lang="en-IN" sz="1400" dirty="0"/>
              <a:t>, </a:t>
            </a:r>
            <a:r>
              <a:rPr lang="en-IN" sz="1400" dirty="0" err="1"/>
              <a:t>DeepLab</a:t>
            </a:r>
            <a:r>
              <a:rPr lang="en-IN" sz="1400" dirty="0"/>
              <a:t>) and decoders( U-Net).</a:t>
            </a:r>
          </a:p>
        </p:txBody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FF9931EC-A534-CD2E-A254-CCBA16F802E5}"/>
              </a:ext>
            </a:extLst>
          </p:cNvPr>
          <p:cNvSpPr/>
          <p:nvPr/>
        </p:nvSpPr>
        <p:spPr>
          <a:xfrm>
            <a:off x="1641763" y="5887488"/>
            <a:ext cx="8908473" cy="274321"/>
          </a:xfrm>
          <a:prstGeom prst="rect">
            <a:avLst/>
          </a:prstGeom>
          <a:solidFill>
            <a:schemeClr val="bg2"/>
          </a:solidFill>
          <a:ln w="12700">
            <a:solidFill>
              <a:srgbClr val="2D9CD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/>
          <a:p>
            <a:r>
              <a:rPr lang="en-US" sz="11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MTL effectiveness is highly dependent on task characteristics : equal-weight sharing is insufficient when tasks differ in complexity.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785</Words>
  <Application>Microsoft Office PowerPoint</Application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Poppins Medium</vt:lpstr>
      <vt:lpstr>Office Theme</vt:lpstr>
      <vt:lpstr>Controlled Empirical Analysis of Single-Task and Multi Task Learning for Semantic Segmentation and Drivable Area Detection</vt:lpstr>
      <vt:lpstr>PowerPoint Presentation</vt:lpstr>
      <vt:lpstr>Dataset &amp; Methodology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Nishit Kumble</dc:creator>
  <cp:lastModifiedBy>Nishit Kumble</cp:lastModifiedBy>
  <cp:revision>2</cp:revision>
  <dcterms:created xsi:type="dcterms:W3CDTF">2026-04-23T01:34:30Z</dcterms:created>
  <dcterms:modified xsi:type="dcterms:W3CDTF">2026-04-23T19:20:03Z</dcterms:modified>
</cp:coreProperties>
</file>